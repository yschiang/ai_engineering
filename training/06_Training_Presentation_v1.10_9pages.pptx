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7f2e758ca4e16" /><Relationship Type="http://schemas.openxmlformats.org/officeDocument/2006/relationships/extended-properties" Target="/docProps/app.xml" Id="R6c3799a370e3475b" /><Relationship Type="http://schemas.openxmlformats.org/officeDocument/2006/relationships/officeDocument" Target="/ppt/presentation.xml" Id="R7fc08f202052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d146b0edcf4845"/>
  </p:sldMasterIdLst>
  <p:notesMasterIdLst>
    <p:notesMasterId xmlns:r="http://schemas.openxmlformats.org/officeDocument/2006/relationships" r:id="Rf5e6b0ea912942d5"/>
  </p:notesMasterIdLst>
  <p:sldIdLst>
    <p:sldId xmlns:r="http://schemas.openxmlformats.org/officeDocument/2006/relationships" id="256" r:id="R2eebde5e898147fa"/>
    <p:sldId xmlns:r="http://schemas.openxmlformats.org/officeDocument/2006/relationships" id="257" r:id="Rab38e96f867e443c"/>
    <p:sldId xmlns:r="http://schemas.openxmlformats.org/officeDocument/2006/relationships" id="258" r:id="Raaafe9b93cac4f65"/>
    <p:sldId xmlns:r="http://schemas.openxmlformats.org/officeDocument/2006/relationships" id="259" r:id="R99c03db5dc26489a"/>
    <p:sldId xmlns:r="http://schemas.openxmlformats.org/officeDocument/2006/relationships" id="260" r:id="R4581bd4a91aa415a"/>
    <p:sldId xmlns:r="http://schemas.openxmlformats.org/officeDocument/2006/relationships" id="261" r:id="R87bda165ec984971"/>
    <p:sldId xmlns:r="http://schemas.openxmlformats.org/officeDocument/2006/relationships" id="262" r:id="R49a14362ee9749dc"/>
    <p:sldId xmlns:r="http://schemas.openxmlformats.org/officeDocument/2006/relationships" id="263" r:id="Rfcff5202727a4bac"/>
    <p:sldId xmlns:r="http://schemas.openxmlformats.org/officeDocument/2006/relationships" id="264" r:id="Ra65767243a5b48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86c1b379a46e6" /><Relationship Type="http://schemas.openxmlformats.org/officeDocument/2006/relationships/slideMaster" Target="/ppt/slideMasters/slideMaster1.xml" Id="Rd8d146b0edcf4845" /><Relationship Type="http://schemas.openxmlformats.org/officeDocument/2006/relationships/notesMaster" Target="/ppt/notesMasters/notesMaster1.xml" Id="Rf5e6b0ea912942d5" /><Relationship Type="http://schemas.openxmlformats.org/officeDocument/2006/relationships/presProps" Target="/ppt/presProps.xml" Id="R6e668b2b6d4842c3" /><Relationship Type="http://schemas.openxmlformats.org/officeDocument/2006/relationships/tableStyles" Target="/ppt/tableStyles.xml" Id="R7a22f4ed6e414de1" /><Relationship Type="http://schemas.openxmlformats.org/officeDocument/2006/relationships/slide" Target="/ppt/slides/slide1.xml" Id="R2eebde5e898147fa" /><Relationship Type="http://schemas.openxmlformats.org/officeDocument/2006/relationships/slide" Target="/ppt/slides/slide2.xml" Id="Rab38e96f867e443c" /><Relationship Type="http://schemas.openxmlformats.org/officeDocument/2006/relationships/slide" Target="/ppt/slides/slide3.xml" Id="Raaafe9b93cac4f65" /><Relationship Type="http://schemas.openxmlformats.org/officeDocument/2006/relationships/slide" Target="/ppt/slides/slide4.xml" Id="R99c03db5dc26489a" /><Relationship Type="http://schemas.openxmlformats.org/officeDocument/2006/relationships/slide" Target="/ppt/slides/slide5.xml" Id="R4581bd4a91aa415a" /><Relationship Type="http://schemas.openxmlformats.org/officeDocument/2006/relationships/slide" Target="/ppt/slides/slide6.xml" Id="R87bda165ec984971" /><Relationship Type="http://schemas.openxmlformats.org/officeDocument/2006/relationships/slide" Target="/ppt/slides/slide7.xml" Id="R49a14362ee9749dc" /><Relationship Type="http://schemas.openxmlformats.org/officeDocument/2006/relationships/slide" Target="/ppt/slides/slide8.xml" Id="Rfcff5202727a4bac" /><Relationship Type="http://schemas.openxmlformats.org/officeDocument/2006/relationships/slide" Target="/ppt/slides/slide9.xml" Id="Ra65767243a5b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b7b9cd4b7643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541592779437d" /><Relationship Type="http://schemas.openxmlformats.org/officeDocument/2006/relationships/notesMaster" Target="/ppt/notesMasters/notesMaster1.xml" Id="R70c65c237ac246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e53fa4d42e41ef" /><Relationship Type="http://schemas.openxmlformats.org/officeDocument/2006/relationships/notesMaster" Target="/ppt/notesMasters/notesMaster1.xml" Id="R10167518886b44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25046c8cf4f48" /><Relationship Type="http://schemas.openxmlformats.org/officeDocument/2006/relationships/notesMaster" Target="/ppt/notesMasters/notesMaster1.xml" Id="R08aca8f753804d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96cc58a5cd4413" /><Relationship Type="http://schemas.openxmlformats.org/officeDocument/2006/relationships/notesMaster" Target="/ppt/notesMasters/notesMaster1.xml" Id="R35785a4a70524a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98eacf24c48c6" /><Relationship Type="http://schemas.openxmlformats.org/officeDocument/2006/relationships/notesMaster" Target="/ppt/notesMasters/notesMaster1.xml" Id="Rb75cf59b78d9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5ac5d00f24f05" /><Relationship Type="http://schemas.openxmlformats.org/officeDocument/2006/relationships/notesMaster" Target="/ppt/notesMasters/notesMaster1.xml" Id="R96023eb41d2542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3aedfc8a79479a" /><Relationship Type="http://schemas.openxmlformats.org/officeDocument/2006/relationships/notesMaster" Target="/ppt/notesMasters/notesMaster1.xml" Id="Re2cd95b327014f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73b3d0be74c3d" /><Relationship Type="http://schemas.openxmlformats.org/officeDocument/2006/relationships/notesMaster" Target="/ppt/notesMasters/notesMaster1.xml" Id="R15c0399ff9de44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804590cc344b0d" /><Relationship Type="http://schemas.openxmlformats.org/officeDocument/2006/relationships/notesMaster" Target="/ppt/notesMasters/notesMaster1.xml" Id="R380c77939fd6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e1835813f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4fffcb2684c9b" /><Relationship Type="http://schemas.openxmlformats.org/officeDocument/2006/relationships/slideLayout" Target="/ppt/slideLayouts/slideLayout1.xml" Id="R4e520c02f2e7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20c02f2e7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1b371575743b9" /><Relationship Type="http://schemas.openxmlformats.org/officeDocument/2006/relationships/notesSlide" Target="/ppt/notesSlides/notesSlide1.xml" Id="R509f73aa9c9d4c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7e4975f5b4983" /><Relationship Type="http://schemas.openxmlformats.org/officeDocument/2006/relationships/image" Target="/ppt/media/image.png" Id="R57637333d6474139" /><Relationship Type="http://schemas.openxmlformats.org/officeDocument/2006/relationships/image" Target="/ppt/media/image2.png" Id="Rfe336ced0e5f460d" /><Relationship Type="http://schemas.openxmlformats.org/officeDocument/2006/relationships/image" Target="/ppt/media/image3.png" Id="Re448b3e436b34c99" /><Relationship Type="http://schemas.openxmlformats.org/officeDocument/2006/relationships/notesSlide" Target="/ppt/notesSlides/notesSlide2.xml" Id="R111a47e4c97645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565e9da114c83" /><Relationship Type="http://schemas.openxmlformats.org/officeDocument/2006/relationships/notesSlide" Target="/ppt/notesSlides/notesSlide3.xml" Id="R5bb5483c29ad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295524b044ff7" /><Relationship Type="http://schemas.openxmlformats.org/officeDocument/2006/relationships/notesSlide" Target="/ppt/notesSlides/notesSlide4.xml" Id="R4b1adc990abb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2211364104a57" /><Relationship Type="http://schemas.openxmlformats.org/officeDocument/2006/relationships/notesSlide" Target="/ppt/notesSlides/notesSlide5.xml" Id="Rdf62fc203afc4c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a045cf0f14fde" /><Relationship Type="http://schemas.openxmlformats.org/officeDocument/2006/relationships/notesSlide" Target="/ppt/notesSlides/notesSlide6.xml" Id="R2229d5f8f3dd4d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c6c82a1124db5" /><Relationship Type="http://schemas.openxmlformats.org/officeDocument/2006/relationships/notesSlide" Target="/ppt/notesSlides/notesSlide7.xml" Id="R1c749739864f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27bc55b8747f0" /><Relationship Type="http://schemas.openxmlformats.org/officeDocument/2006/relationships/image" Target="/ppt/media/image.png" Id="R0ee4d2d83f7f458d" /><Relationship Type="http://schemas.openxmlformats.org/officeDocument/2006/relationships/notesSlide" Target="/ppt/notesSlides/notesSlide8.xml" Id="Ra2ebdeb1253d41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aabbd40054594" /><Relationship Type="http://schemas.openxmlformats.org/officeDocument/2006/relationships/notesSlide" Target="/ppt/notesSlides/notesSlide9.xml" Id="R026538e4e1e745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v1.10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只有 Vibe Coding 不夠：我們要解的兩個工程問題</a:t>
            </a:r>
          </a:p>
        </p:txBody>
      </p:sp>
      <p:cxnSp>
        <p:nvCxnSpPr>
          <p:cNvPr id="21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不同大小的工作，需要不同深度的 AI development workflow。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Coding 變得又快又便宜；前面想錯，bad code 與技術債也會更快放大。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37333d6474139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36ced0e5f460d"/>
          <a:stretch xmlns:a="http://schemas.openxmlformats.org/drawingml/2006/main"/>
        </p:blipFill>
        <p:spPr>
          <a:xfrm xmlns:a="http://schemas.openxmlformats.org/drawingml/2006/main">
            <a:off x="590550" y="2764875"/>
            <a:ext cx="5048250" cy="2471249"/>
          </a:xfrm>
          <a:prstGeom xmlns:a="http://schemas.openxmlformats.org/drawingml/2006/main" prst="rect">
            <a:avLst/>
          </a:prstGeom>
        </p:spPr>
      </p:pic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8b3e436b34c99"/>
          <a:stretch xmlns:a="http://schemas.openxmlformats.org/drawingml/2006/main"/>
        </p:blipFill>
        <p:spPr>
          <a:xfrm xmlns:a="http://schemas.openxmlformats.org/drawingml/2006/main">
            <a:off x="6419850" y="2725632"/>
            <a:ext cx="5048250" cy="254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這次建立的是：工程師每天能照著走的 AI Development Workflow</a:t>
            </a:r>
          </a:p>
        </p:txBody>
      </p:sp>
      <p:cxnSp>
        <p:nvCxnSpPr>
          <p:cNvPr id="56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持久核心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models 會一直變強 · Engineering workflow / ownership / evidence 必須持久</a:t>
            </a:r>
          </a:p>
        </p:txBody>
      </p:sp>
      <p:cxnSp>
        <p:nvCxnSpPr>
          <p:cNvPr id="569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0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1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2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Problem · system · unknowns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FR · NFR · boundary · trade-offs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Work Level · slices ·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Default skill · TDD ·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Acceptance · risk · evidence</a:t>
            </a:r>
          </a:p>
        </p:txBody>
      </p:sp>
      <p:cxnSp>
        <p:nvCxnSpPr>
          <p:cNvPr id="593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不同大小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同一流程 · 深度不同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同一 Golden Flow 適用 P3→P0；Golden defaults 經 10+ actual pilots 淬煉，可直接使用或採 approved equivalent。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先回答 Six Questions，再從 Current Stage 開始</a:t>
            </a:r>
          </a:p>
        </p:txBody>
      </p:sp>
      <p:cxnSp>
        <p:nvCxnSpPr>
          <p:cNvPr id="56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SIX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Location · Work Level · Archetype · Current Stage · Control Profile · Next Move</a:t>
            </a:r>
          </a:p>
        </p:txBody>
      </p:sp>
      <p:cxnSp>
        <p:nvCxnSpPr>
          <p:cNvPr id="569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0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1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572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P1→P0 · P0→tasks JIT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593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P3–P0 只決定深度；以下用 P1 Feature 示範</a:t>
            </a:r>
          </a:p>
        </p:txBody>
      </p:sp>
      <p:cxnSp>
        <p:nvCxnSpPr>
          <p:cNvPr id="142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cxnSp>
        <p:nvCxnSpPr>
          <p:cNvPr id="144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45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146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本 deck example：approved outcome → 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是可整體驗收 / release / control 的 Feature outcome。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的 Plan 不是 files / tasks；先切成 P0 vertical slices。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是 Sprint-ready、narrow but complete、可獨立驗證。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/ Plan Step / Commit 位於 P0 下方，不是 Work Level。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接下來全部用 P1 Feature 示範一條具體 Golden Path。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Feature 的 Plan：先切 P0，再做 JIT implementation plan</a:t>
            </a:r>
          </a:p>
        </p:txBody>
      </p:sp>
      <p:cxnSp>
        <p:nvCxnSpPr>
          <p:cNvPr id="147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149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0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1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152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tracer bullets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02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Execution Tasks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files · tests ·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DELIVERY DECOMPOSITION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→ P0：每張 ticket 是 narrow but complete tracer bullet。沒有 blocker 的項目形成 execution frontier。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PLANNING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單一 P0 即將執行且 multi-step / risky / complex 時才產生 exact implementation plan。簡單 P0 可 inline。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禁止：先替整個 Epic / Feature 建立巨大 implementation plan。Wide refactor 使用 expand → migrate batches → contract。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藍色 = Golden default skill · writing-plans only when triggered · existing OpenSpec plan stays SSOT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工程師只要記住：一張 Feature，沿 Golden Flow 走到底</a:t>
            </a:r>
          </a:p>
        </p:txBody>
      </p:sp>
      <p:cxnSp>
        <p:nvCxnSpPr>
          <p:cNvPr id="45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 · 把問題弄對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問：change boundary / FR / NFR？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用：codebase-research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/ grill-me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留：approved Feature Design</a:t>
            </a:r>
          </a:p>
        </p:txBody>
      </p:sp>
      <p:cxnSp>
        <p:nvCxnSpPr>
          <p:cNvPr id="462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Understanding + Change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 · 把交付切小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→ 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to-tickets → P0 vertical slices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Blocked by → execution frontier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writing-plans → JIT tasks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TDD → small reviewable change</a:t>
            </a:r>
          </a:p>
        </p:txBody>
      </p:sp>
      <p:cxnSp>
        <p:nvCxnSpPr>
          <p:cNvPr id="470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P0 acceptance +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 · 用證據完成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 →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actual diff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Verify acceptance + affected risk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Prepare rollback / observe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Hand off to existing release / E3</a:t>
            </a:r>
          </a:p>
        </p:txBody>
      </p:sp>
      <p:cxnSp>
        <p:nvCxnSpPr>
          <p:cNvPr id="478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Evidence Gate + 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Golden Flow 決定下一步；Golden Default skill 決定怎麼做；risk 只改變 rigor，不改變路徑。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Engineering：Design / Implement 各 1.5 週，總時間 8 → 6 週</a:t>
            </a:r>
          </a:p>
        </p:txBody>
      </p:sp>
      <p:cxnSp>
        <p:nvCxnSpPr>
          <p:cNvPr id="213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DESIGN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0.5 → 1.5 wk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design time ×3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FR / NFR / failure 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AS-IS · 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4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single-repo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unclear FR/NFR · thin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IMPLEMENTATION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5.5 → 1.5 wk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implementation time ↓73%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less patch-driven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AI · 6 WEEKS · -25%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≈ 3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system-wide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explicit design · TDD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PATCHES / REWORK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↓ Fewer loops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validation 1.0 → 2.0 wk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TDD · staging ·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Illustrative target allocation：stages may overlap；需以既有 10+ pilots actual baseline 持續校準。</a:t>
            </a:r>
          </a:p>
        </p:txBody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4d2d83f7f458d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8" y="1476375"/>
            <a:ext cx="8741833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WITH 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明天從一張 P1 Feature 開始：回答六個問題</a:t>
            </a:r>
          </a:p>
        </p:txBody>
      </p:sp>
      <p:cxnSp>
        <p:nvCxnSpPr>
          <p:cNvPr id="37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 FEATURE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工作在哪裡？ existing activity / system of record</a:t>
            </a:r>
          </a:p>
        </p:txBody>
      </p:sp>
      <p:cxnSp>
        <p:nvCxnSpPr>
          <p:cNvPr id="384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Work Level？ P3 / P2 / P1 / P0</a:t>
            </a:r>
          </a:p>
        </p:txBody>
      </p:sp>
      <p:cxnSp>
        <p:nvCxnSpPr>
          <p:cNvPr id="387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Archetype？ Greenfield / Modernization / Standard</a:t>
            </a:r>
          </a:p>
        </p:txBody>
      </p:sp>
      <p:cxnSp>
        <p:nvCxnSpPr>
          <p:cNvPr id="390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Current Stage？ 第一個還不能可靠回答的問題</a:t>
            </a:r>
          </a:p>
        </p:txBody>
      </p:sp>
      <p:cxnSp>
        <p:nvCxnSpPr>
          <p:cNvPr id="393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Control Profile？ rigor / risk / AI authority</a:t>
            </a:r>
          </a:p>
        </p:txBody>
      </p:sp>
      <p:cxnSp>
        <p:nvCxnSpPr>
          <p:cNvPr id="396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WHAT CHANGES TOMORROW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Follow Golden defaults；不再 open-ended vibe coding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Approve design、equivalent skills 與 gate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Integrate existing workflow；remove blockers；review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 local activity → Golden Stage / Gate / artifact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Department：minimum contract + defaults · Team：approved equivalents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從 Golden defaults 開始，用 evidence 完成；不要讓 code generation 取代 engineering。</a:t>
            </a:r>
          </a:p>
        </p:txBody>
      </p:sp>
      <p:sp>
        <p:nvSpPr>
          <p:cNvPr id="255" name="six-question-6-number">
            <a:extLst xmlns:a="http://schemas.openxmlformats.org/drawingml/2006/main">
              <a:ext uri="{FF2B5EF4-FFF2-40B4-BE49-F238E27FC236}">
                <a16:creationId xmlns:a16="http://schemas.microsoft.com/office/drawing/2014/main" id="{C49DD5BE-0086-4E18-9DBE-6A238C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56" name="six-question-6-text">
            <a:extLst xmlns:a="http://schemas.openxmlformats.org/drawingml/2006/main">
              <a:ext uri="{FF2B5EF4-FFF2-40B4-BE49-F238E27FC236}">
                <a16:creationId xmlns:a16="http://schemas.microsoft.com/office/drawing/2014/main" id="{E784FF07-403A-4FFD-8F21-6F58BD0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Next Move？ Golden default → evidence → Gate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2026-07-18T11:35:59.3280000Z</dcterms:created>
  <dcterms:modified xsi:type="dcterms:W3CDTF">2026-07-18T11:35:59.3280000Z</dcterms:modified>
</coreProperties>
</file>
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2d1c1855ee498f" /><Relationship Type="http://schemas.openxmlformats.org/officeDocument/2006/relationships/extended-properties" Target="/docProps/app.xml" Id="R62b3f0036dbb4477" /><Relationship Type="http://schemas.openxmlformats.org/officeDocument/2006/relationships/officeDocument" Target="/ppt/presentation.xml" Id="R27b0a57222aa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0291f0d3640d3"/>
  </p:sldMasterIdLst>
  <p:notesMasterIdLst>
    <p:notesMasterId xmlns:r="http://schemas.openxmlformats.org/officeDocument/2006/relationships" r:id="R513397e413964382"/>
  </p:notesMasterIdLst>
  <p:sldIdLst>
    <p:sldId xmlns:r="http://schemas.openxmlformats.org/officeDocument/2006/relationships" id="256" r:id="R52a7aa23487a4652"/>
    <p:sldId xmlns:r="http://schemas.openxmlformats.org/officeDocument/2006/relationships" id="257" r:id="R9457e095586a4cf6"/>
    <p:sldId xmlns:r="http://schemas.openxmlformats.org/officeDocument/2006/relationships" id="258" r:id="Rc3aacaf367a34c8e"/>
    <p:sldId xmlns:r="http://schemas.openxmlformats.org/officeDocument/2006/relationships" id="259" r:id="R77b69e8273e0463b"/>
    <p:sldId xmlns:r="http://schemas.openxmlformats.org/officeDocument/2006/relationships" id="260" r:id="R6d1c0375eb344ce3"/>
    <p:sldId xmlns:r="http://schemas.openxmlformats.org/officeDocument/2006/relationships" id="261" r:id="Rba60cf0708d443bf"/>
    <p:sldId xmlns:r="http://schemas.openxmlformats.org/officeDocument/2006/relationships" id="262" r:id="R277fe79472ae460e"/>
    <p:sldId xmlns:r="http://schemas.openxmlformats.org/officeDocument/2006/relationships" id="263" r:id="R6eb19ef083974127"/>
    <p:sldId xmlns:r="http://schemas.openxmlformats.org/officeDocument/2006/relationships" id="264" r:id="R1e2a1506f2f54e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c1540e387044d3" /><Relationship Type="http://schemas.openxmlformats.org/officeDocument/2006/relationships/slideMaster" Target="/ppt/slideMasters/slideMaster1.xml" Id="Re480291f0d3640d3" /><Relationship Type="http://schemas.openxmlformats.org/officeDocument/2006/relationships/notesMaster" Target="/ppt/notesMasters/notesMaster1.xml" Id="R513397e413964382" /><Relationship Type="http://schemas.openxmlformats.org/officeDocument/2006/relationships/presProps" Target="/ppt/presProps.xml" Id="Rb863e7505b2a4e98" /><Relationship Type="http://schemas.openxmlformats.org/officeDocument/2006/relationships/tableStyles" Target="/ppt/tableStyles.xml" Id="R34dce88b6f2c4566" /><Relationship Type="http://schemas.openxmlformats.org/officeDocument/2006/relationships/slide" Target="/ppt/slides/slide1.xml" Id="R52a7aa23487a4652" /><Relationship Type="http://schemas.openxmlformats.org/officeDocument/2006/relationships/slide" Target="/ppt/slides/slide2.xml" Id="R9457e095586a4cf6" /><Relationship Type="http://schemas.openxmlformats.org/officeDocument/2006/relationships/slide" Target="/ppt/slides/slide3.xml" Id="Rc3aacaf367a34c8e" /><Relationship Type="http://schemas.openxmlformats.org/officeDocument/2006/relationships/slide" Target="/ppt/slides/slide4.xml" Id="R77b69e8273e0463b" /><Relationship Type="http://schemas.openxmlformats.org/officeDocument/2006/relationships/slide" Target="/ppt/slides/slide5.xml" Id="R6d1c0375eb344ce3" /><Relationship Type="http://schemas.openxmlformats.org/officeDocument/2006/relationships/slide" Target="/ppt/slides/slide6.xml" Id="Rba60cf0708d443bf" /><Relationship Type="http://schemas.openxmlformats.org/officeDocument/2006/relationships/slide" Target="/ppt/slides/slide7.xml" Id="R277fe79472ae460e" /><Relationship Type="http://schemas.openxmlformats.org/officeDocument/2006/relationships/slide" Target="/ppt/slides/slide8.xml" Id="R6eb19ef083974127" /><Relationship Type="http://schemas.openxmlformats.org/officeDocument/2006/relationships/slide" Target="/ppt/slides/slide9.xml" Id="R1e2a1506f2f54e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227a4d9898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df3498d1842ac" /><Relationship Type="http://schemas.openxmlformats.org/officeDocument/2006/relationships/notesMaster" Target="/ppt/notesMasters/notesMaster1.xml" Id="Rd8d9aba484a6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8ba96702894c59" /><Relationship Type="http://schemas.openxmlformats.org/officeDocument/2006/relationships/notesMaster" Target="/ppt/notesMasters/notesMaster1.xml" Id="R90c2f17f4ee44b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314ffebf148ea" /><Relationship Type="http://schemas.openxmlformats.org/officeDocument/2006/relationships/notesMaster" Target="/ppt/notesMasters/notesMaster1.xml" Id="Rbf9c66626c5941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70f59d929141c8" /><Relationship Type="http://schemas.openxmlformats.org/officeDocument/2006/relationships/notesMaster" Target="/ppt/notesMasters/notesMaster1.xml" Id="R924b3173e3bd45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9c4aee415242fd" /><Relationship Type="http://schemas.openxmlformats.org/officeDocument/2006/relationships/notesMaster" Target="/ppt/notesMasters/notesMaster1.xml" Id="R7c0f79c6e87542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e5262e2b534be1" /><Relationship Type="http://schemas.openxmlformats.org/officeDocument/2006/relationships/notesMaster" Target="/ppt/notesMasters/notesMaster1.xml" Id="Rfdfab1175bd34d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74af9130ca4ab8" /><Relationship Type="http://schemas.openxmlformats.org/officeDocument/2006/relationships/notesMaster" Target="/ppt/notesMasters/notesMaster1.xml" Id="Rbb142265f10044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7aff48e0694ea2" /><Relationship Type="http://schemas.openxmlformats.org/officeDocument/2006/relationships/notesMaster" Target="/ppt/notesMasters/notesMaster1.xml" Id="R42cd81271b784c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edf1c3d26f479f" /><Relationship Type="http://schemas.openxmlformats.org/officeDocument/2006/relationships/notesMaster" Target="/ppt/notesMasters/notesMaster1.xml" Id="R29822569a411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0be0232ae4d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c7cc442c14479" /><Relationship Type="http://schemas.openxmlformats.org/officeDocument/2006/relationships/slideLayout" Target="/ppt/slideLayouts/slideLayout1.xml" Id="R8e106af032434b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106af032434b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319cbe02d49e1" /><Relationship Type="http://schemas.openxmlformats.org/officeDocument/2006/relationships/notesSlide" Target="/ppt/notesSlides/notesSlide1.xml" Id="R33f8a13375954a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ecd47746a4da5" /><Relationship Type="http://schemas.openxmlformats.org/officeDocument/2006/relationships/image" Target="/ppt/media/image.png" Id="R37c8346422e04dc7" /><Relationship Type="http://schemas.openxmlformats.org/officeDocument/2006/relationships/image" Target="/ppt/media/image2.png" Id="Rda65b77a82934677" /><Relationship Type="http://schemas.openxmlformats.org/officeDocument/2006/relationships/notesSlide" Target="/ppt/notesSlides/notesSlide2.xml" Id="R906dc5a18c7c48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5de767f0c4b81" /><Relationship Type="http://schemas.openxmlformats.org/officeDocument/2006/relationships/notesSlide" Target="/ppt/notesSlides/notesSlide3.xml" Id="Rfa8ffc7543e5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f9870b2414b2b" /><Relationship Type="http://schemas.openxmlformats.org/officeDocument/2006/relationships/notesSlide" Target="/ppt/notesSlides/notesSlide4.xml" Id="R521d23a40b6c4a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a36ab6e2e4126" /><Relationship Type="http://schemas.openxmlformats.org/officeDocument/2006/relationships/notesSlide" Target="/ppt/notesSlides/notesSlide5.xml" Id="R4c55a34e0abe4f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cb157d6144fc1" /><Relationship Type="http://schemas.openxmlformats.org/officeDocument/2006/relationships/notesSlide" Target="/ppt/notesSlides/notesSlide6.xml" Id="R77cbff9cfbff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0cc76a9e745cb" /><Relationship Type="http://schemas.openxmlformats.org/officeDocument/2006/relationships/notesSlide" Target="/ppt/notesSlides/notesSlide7.xml" Id="R20dadd3dc1c54e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b3b3ce2f04e7a" /><Relationship Type="http://schemas.openxmlformats.org/officeDocument/2006/relationships/image" Target="/ppt/media/image.png" Id="Rd6bc1fe6c9314a4c" /><Relationship Type="http://schemas.openxmlformats.org/officeDocument/2006/relationships/notesSlide" Target="/ppt/notesSlides/notesSlide8.xml" Id="R91c752fd265747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74372db92406e" /><Relationship Type="http://schemas.openxmlformats.org/officeDocument/2006/relationships/notesSlide" Target="/ppt/notesSlides/notesSlide9.xml" Id="R4b38daa490514b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v1.9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只有 Vibe Coding 不夠：工作越大，AI workflow 必須更深</a:t>
            </a:r>
          </a:p>
        </p:txBody>
      </p:sp>
      <p:cxnSp>
        <p:nvCxnSpPr>
          <p:cNvPr id="21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SMALL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Talk → Change →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one bounded session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reversible · easy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PROBLEM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小改字與跨 Repo Feature，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不能只用同一個 prompt / session。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P1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to-tickets slices delivery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JIT plan per executing P0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PROBLEM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AI 寫 code 越快，寫錯、patch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與技術債也累積越快。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P2 / P3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Multiple sessions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cross-repo 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 Design · staged plans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Work 越大：Research / Design / Plan / Validate 越深。Source concept：Dex Horthy, No Vibes Allowed。</a:t>
            </a:r>
          </a:p>
        </p:txBody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8346422e04dc7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b77a82934677"/>
          <a:stretch xmlns:a="http://schemas.openxmlformats.org/drawingml/2006/main"/>
        </p:blipFill>
        <p:spPr>
          <a:xfrm xmlns:a="http://schemas.openxmlformats.org/drawingml/2006/main">
            <a:off x="4359478" y="1476375"/>
            <a:ext cx="5739992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這次建立的是：工程師每天能照著走的 AI Development Workflow</a:t>
            </a:r>
          </a:p>
        </p:txBody>
      </p:sp>
      <p:cxnSp>
        <p:nvCxnSpPr>
          <p:cNvPr id="56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持久核心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models 會一直變強 · Engineering workflow / ownership / evidence 必須持久</a:t>
            </a:r>
          </a:p>
        </p:txBody>
      </p:sp>
      <p:cxnSp>
        <p:nvCxnSpPr>
          <p:cNvPr id="569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0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1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2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Problem · system · unknowns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FR · NFR · boundary · trade-offs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Work Level · slices ·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Default skill · TDD ·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Acceptance · risk · evidence</a:t>
            </a:r>
          </a:p>
        </p:txBody>
      </p:sp>
      <p:cxnSp>
        <p:nvCxnSpPr>
          <p:cNvPr id="593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不同大小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同一流程 · 深度不同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同一 Golden Flow 適用 P3→P0；Golden defaults 經 10+ actual pilots 淬煉，可直接使用或採 approved equivalent。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先回答 Six Questions，再從 Current Stage 開始</a:t>
            </a:r>
          </a:p>
        </p:txBody>
      </p:sp>
      <p:cxnSp>
        <p:nvCxnSpPr>
          <p:cNvPr id="56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SIX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Location · Work Level · Archetype · Current Stage · Control Profile · Next Move</a:t>
            </a:r>
          </a:p>
        </p:txBody>
      </p:sp>
      <p:cxnSp>
        <p:nvCxnSpPr>
          <p:cNvPr id="569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0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1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2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P1→P0 · P0→tasks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593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P3–P0 只決定深度；以下用 P1 Feature 示範</a:t>
            </a:r>
          </a:p>
        </p:txBody>
      </p:sp>
      <p:cxnSp>
        <p:nvCxnSpPr>
          <p:cNvPr id="142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cxnSp>
        <p:nvCxnSpPr>
          <p:cNvPr id="144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45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46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本 deck example：approved outcome → 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是可整體驗收 / release / control 的 Feature outcome。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的 Plan 不是 files / tasks；先切成 P0 vertical slices。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是 Sprint-ready、narrow but complete、可獨立驗證。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/ Plan Step / Commit 位於 P0 下方，不是 Work Level。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接下來全部用 P1 Feature 示範一條具體 Golden Path。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Feature 的 Plan：先切 P0，再做 JIT implementation plan</a:t>
            </a:r>
          </a:p>
        </p:txBody>
      </p:sp>
      <p:cxnSp>
        <p:nvCxnSpPr>
          <p:cNvPr id="147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149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0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1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2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tracer bullets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0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Execution Tasks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files · tests ·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DELIVERY DECOMPOSITION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→ P0：每張 ticket 是 narrow but complete tracer bullet。沒有 blocker 的項目形成 execution frontier。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單一 P0 即將執行且 multi-step / risky / complex 時才產生 exact implementation plan。簡單 P0 可 inline。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禁止：先替整個 Epic / Feature 建立巨大 implementation plan。Wide refactor 使用 expand → migrate batches → contract。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藍色 = Golden default skill · writing-plans only when triggered · existing OpenSpec plan stays SSOT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工程師只要記住：一張 Feature，沿 Golden Flow 走到底</a:t>
            </a:r>
          </a:p>
        </p:txBody>
      </p:sp>
      <p:cxnSp>
        <p:nvCxnSpPr>
          <p:cNvPr id="45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 · 把問題弄對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問：change boundary / FR / NFR？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用：codebase-research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/ grill-me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留：approved Feature Design</a:t>
            </a:r>
          </a:p>
        </p:txBody>
      </p:sp>
      <p:cxnSp>
        <p:nvCxnSpPr>
          <p:cNvPr id="46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Understanding + Change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 · 把交付切小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→ 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 → P0 vertical slices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Blocked by → execution frontier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 → JIT tasks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TDD → small reviewable change</a:t>
            </a:r>
          </a:p>
        </p:txBody>
      </p:sp>
      <p:cxnSp>
        <p:nvCxnSpPr>
          <p:cNvPr id="47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P0 acceptance +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 · 用證據完成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 →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actual diff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Verify acceptance + affected risk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Prepare rollback / observe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Hand off to existing release / E3</a:t>
            </a:r>
          </a:p>
        </p:txBody>
      </p:sp>
      <p:cxnSp>
        <p:nvCxnSpPr>
          <p:cNvPr id="47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Evidence Gate + 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Golden Flow 決定下一步；Golden Default skill 決定怎麼做；risk 只改變 rigor，不改變路徑。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Engineering：Design / Implement 各 1.5 週，總時間 8 → 6 週</a:t>
            </a:r>
          </a:p>
        </p:txBody>
      </p:sp>
      <p:cxnSp>
        <p:nvCxnSpPr>
          <p:cNvPr id="213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DESIGN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0.5 → 1.5 wk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design time ×3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FR / NFR / failure 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AS-IS · 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4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single-repo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unclear FR/NFR · thin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5.5 → 1.5 wk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implementation time ↓73%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less patch-driven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AI · 6 WEEKS · -25%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≈ 3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system-wide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explicit design · TDD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PATCHES / REWORK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↓ Fewer loops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validation 1.0 → 2.0 wk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TDD · staging ·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Illustrative target allocation：stages may overlap；需以既有 10+ pilots actual baseline 持續校準。</a:t>
            </a:r>
          </a:p>
        </p:txBody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c1fe6c9314a4c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8" y="1476375"/>
            <a:ext cx="8741833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WITH 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明天從一張 P1 Feature 開始：回答六個問題</a:t>
            </a:r>
          </a:p>
        </p:txBody>
      </p:sp>
      <p:cxnSp>
        <p:nvCxnSpPr>
          <p:cNvPr id="37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 FEATURE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工作在哪裡？ existing activity / system of record</a:t>
            </a:r>
          </a:p>
        </p:txBody>
      </p:sp>
      <p:cxnSp>
        <p:nvCxnSpPr>
          <p:cNvPr id="384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Work Level？ P3 / P2 / P1 / P0</a:t>
            </a:r>
          </a:p>
        </p:txBody>
      </p:sp>
      <p:cxnSp>
        <p:nvCxnSpPr>
          <p:cNvPr id="387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Archetype？ Greenfield / Modernization / Standard</a:t>
            </a:r>
          </a:p>
        </p:txBody>
      </p:sp>
      <p:cxnSp>
        <p:nvCxnSpPr>
          <p:cNvPr id="390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Current Stage？ 第一個還不能可靠回答的問題</a:t>
            </a:r>
          </a:p>
        </p:txBody>
      </p:sp>
      <p:cxnSp>
        <p:nvCxnSpPr>
          <p:cNvPr id="393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Control Profile？ rigor / risk / AI authority</a:t>
            </a:r>
          </a:p>
        </p:txBody>
      </p:sp>
      <p:cxnSp>
        <p:nvCxnSpPr>
          <p:cNvPr id="396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WHAT CHANGES TOMORROW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Follow Golden defaults；不再 open-ended vibe coding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Approve design、equivalent skills 與 gate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Integrate existing workflow；remove blockers；review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 local activity → Golden Stage / Gate / artifact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Department：minimum contract + defaults · Team：approved equivalents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從 Golden defaults 開始，用 evidence 完成；不要讓 code generation 取代 engineering。</a:t>
            </a:r>
          </a:p>
        </p:txBody>
      </p:sp>
      <p:sp>
        <p:nvSpPr>
          <p:cNvPr id="255" name="six-question-6-number">
            <a:extLst xmlns:a="http://schemas.openxmlformats.org/drawingml/2006/main">
              <a:ext uri="{FF2B5EF4-FFF2-40B4-BE49-F238E27FC236}">
                <a16:creationId xmlns:a16="http://schemas.microsoft.com/office/drawing/2014/main" id="{C49DD5BE-0086-4E18-9DBE-6A238C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56" name="six-question-6-text">
            <a:extLst xmlns:a="http://schemas.openxmlformats.org/drawingml/2006/main">
              <a:ext uri="{FF2B5EF4-FFF2-40B4-BE49-F238E27FC236}">
                <a16:creationId xmlns:a16="http://schemas.microsoft.com/office/drawing/2014/main" id="{E784FF07-403A-4FFD-8F21-6F58BD0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Next Move？ Golden default → evidence → Gate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2026-07-18T10:53:44.8880000Z</dcterms:created>
  <dcterms:modified xsi:type="dcterms:W3CDTF">2026-07-18T10:53:44.8880000Z</dcterms:modified>
</coreProperties>
</file>
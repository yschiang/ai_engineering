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8ed8f0135642d7" /><Relationship Type="http://schemas.openxmlformats.org/officeDocument/2006/relationships/extended-properties" Target="/docProps/app.xml" Id="R8fb496e0f2ed4fd9" /><Relationship Type="http://schemas.openxmlformats.org/officeDocument/2006/relationships/officeDocument" Target="/ppt/presentation.xml" Id="R2e2f5d9eab2143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e2ca7c294246a4"/>
  </p:sldMasterIdLst>
  <p:notesMasterIdLst>
    <p:notesMasterId xmlns:r="http://schemas.openxmlformats.org/officeDocument/2006/relationships" r:id="R78f3b823a3c540db"/>
  </p:notesMasterIdLst>
  <p:sldIdLst>
    <p:sldId xmlns:r="http://schemas.openxmlformats.org/officeDocument/2006/relationships" id="256" r:id="R491ee0cc2bd74e6c"/>
    <p:sldId xmlns:r="http://schemas.openxmlformats.org/officeDocument/2006/relationships" id="257" r:id="R76a484f212744845"/>
    <p:sldId xmlns:r="http://schemas.openxmlformats.org/officeDocument/2006/relationships" id="258" r:id="R1b4b6c60443a40cd"/>
    <p:sldId xmlns:r="http://schemas.openxmlformats.org/officeDocument/2006/relationships" id="259" r:id="Rc5ecd70442784c3a"/>
    <p:sldId xmlns:r="http://schemas.openxmlformats.org/officeDocument/2006/relationships" id="260" r:id="Rfd62d1778ef743d8"/>
    <p:sldId xmlns:r="http://schemas.openxmlformats.org/officeDocument/2006/relationships" id="261" r:id="R3847ffcd973c4c75"/>
    <p:sldId xmlns:r="http://schemas.openxmlformats.org/officeDocument/2006/relationships" id="262" r:id="R664700dcc77f4ccd"/>
    <p:sldId xmlns:r="http://schemas.openxmlformats.org/officeDocument/2006/relationships" id="263" r:id="R4704fa9bb9424322"/>
    <p:sldId xmlns:r="http://schemas.openxmlformats.org/officeDocument/2006/relationships" id="264" r:id="R667035ae0ff14ab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dbf5c8b48b48b6" /><Relationship Type="http://schemas.openxmlformats.org/officeDocument/2006/relationships/slideMaster" Target="/ppt/slideMasters/slideMaster1.xml" Id="Rcde2ca7c294246a4" /><Relationship Type="http://schemas.openxmlformats.org/officeDocument/2006/relationships/notesMaster" Target="/ppt/notesMasters/notesMaster1.xml" Id="R78f3b823a3c540db" /><Relationship Type="http://schemas.openxmlformats.org/officeDocument/2006/relationships/presProps" Target="/ppt/presProps.xml" Id="R0493f3dc7f7a4a99" /><Relationship Type="http://schemas.openxmlformats.org/officeDocument/2006/relationships/tableStyles" Target="/ppt/tableStyles.xml" Id="Ra57670fc043143ae" /><Relationship Type="http://schemas.openxmlformats.org/officeDocument/2006/relationships/slide" Target="/ppt/slides/slide1.xml" Id="R491ee0cc2bd74e6c" /><Relationship Type="http://schemas.openxmlformats.org/officeDocument/2006/relationships/slide" Target="/ppt/slides/slide2.xml" Id="R76a484f212744845" /><Relationship Type="http://schemas.openxmlformats.org/officeDocument/2006/relationships/slide" Target="/ppt/slides/slide3.xml" Id="R1b4b6c60443a40cd" /><Relationship Type="http://schemas.openxmlformats.org/officeDocument/2006/relationships/slide" Target="/ppt/slides/slide4.xml" Id="Rc5ecd70442784c3a" /><Relationship Type="http://schemas.openxmlformats.org/officeDocument/2006/relationships/slide" Target="/ppt/slides/slide5.xml" Id="Rfd62d1778ef743d8" /><Relationship Type="http://schemas.openxmlformats.org/officeDocument/2006/relationships/slide" Target="/ppt/slides/slide6.xml" Id="R3847ffcd973c4c75" /><Relationship Type="http://schemas.openxmlformats.org/officeDocument/2006/relationships/slide" Target="/ppt/slides/slide7.xml" Id="R664700dcc77f4ccd" /><Relationship Type="http://schemas.openxmlformats.org/officeDocument/2006/relationships/slide" Target="/ppt/slides/slide8.xml" Id="R4704fa9bb9424322" /><Relationship Type="http://schemas.openxmlformats.org/officeDocument/2006/relationships/slide" Target="/ppt/slides/slide9.xml" Id="R667035ae0ff14a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650695c2d645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0a4fd5ab6a44ab" /><Relationship Type="http://schemas.openxmlformats.org/officeDocument/2006/relationships/notesMaster" Target="/ppt/notesMasters/notesMaster1.xml" Id="R9f397e6fabe44d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878b1bfbab4f56" /><Relationship Type="http://schemas.openxmlformats.org/officeDocument/2006/relationships/notesMaster" Target="/ppt/notesMasters/notesMaster1.xml" Id="R697b93c901df4c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8d560684d44ae2" /><Relationship Type="http://schemas.openxmlformats.org/officeDocument/2006/relationships/notesMaster" Target="/ppt/notesMasters/notesMaster1.xml" Id="Rc5ebb489f26246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acbd100e2b4fab" /><Relationship Type="http://schemas.openxmlformats.org/officeDocument/2006/relationships/notesMaster" Target="/ppt/notesMasters/notesMaster1.xml" Id="R5000e7e582674c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401a7a111840e6" /><Relationship Type="http://schemas.openxmlformats.org/officeDocument/2006/relationships/notesMaster" Target="/ppt/notesMasters/notesMaster1.xml" Id="Rd0a73d401f3342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c93bb9d50c41a2" /><Relationship Type="http://schemas.openxmlformats.org/officeDocument/2006/relationships/notesMaster" Target="/ppt/notesMasters/notesMaster1.xml" Id="R066a671132414b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2755d937c74a7a" /><Relationship Type="http://schemas.openxmlformats.org/officeDocument/2006/relationships/notesMaster" Target="/ppt/notesMasters/notesMaster1.xml" Id="R7c0b70003d1946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0701f35f7e4470" /><Relationship Type="http://schemas.openxmlformats.org/officeDocument/2006/relationships/notesMaster" Target="/ppt/notesMasters/notesMaster1.xml" Id="R656cb0b1e71441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26209e8fee4382" /><Relationship Type="http://schemas.openxmlformats.org/officeDocument/2006/relationships/notesMaster" Target="/ppt/notesMasters/notesMaster1.xml" Id="R9b352dc4504e46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389250c9e4d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ba87514cc647dc" /><Relationship Type="http://schemas.openxmlformats.org/officeDocument/2006/relationships/slideLayout" Target="/ppt/slideLayouts/slideLayout1.xml" Id="R2197c2ce003844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97c2ce003844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d312d53b74b4e" /><Relationship Type="http://schemas.openxmlformats.org/officeDocument/2006/relationships/notesSlide" Target="/ppt/notesSlides/notesSlide1.xml" Id="R1e95fe2c58ec4d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f1b3815614aa8" /><Relationship Type="http://schemas.openxmlformats.org/officeDocument/2006/relationships/image" Target="/ppt/media/image.png" Id="R87e1422cc8de4a13" /><Relationship Type="http://schemas.openxmlformats.org/officeDocument/2006/relationships/image" Target="/ppt/media/image2.png" Id="R4ce2865fe45148b2" /><Relationship Type="http://schemas.openxmlformats.org/officeDocument/2006/relationships/image" Target="/ppt/media/image3.png" Id="R2f39d7739c2046d8" /><Relationship Type="http://schemas.openxmlformats.org/officeDocument/2006/relationships/notesSlide" Target="/ppt/notesSlides/notesSlide2.xml" Id="R14ae85a06e544c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e76e0aefc47b9" /><Relationship Type="http://schemas.openxmlformats.org/officeDocument/2006/relationships/notesSlide" Target="/ppt/notesSlides/notesSlide3.xml" Id="R2047c2782a0646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e03f6a0d8437b" /><Relationship Type="http://schemas.openxmlformats.org/officeDocument/2006/relationships/notesSlide" Target="/ppt/notesSlides/notesSlide4.xml" Id="R8ac4b8b2f8414c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787f8cae5478e" /><Relationship Type="http://schemas.openxmlformats.org/officeDocument/2006/relationships/notesSlide" Target="/ppt/notesSlides/notesSlide5.xml" Id="Ra1b96666a6984f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bb8e8dd4a4683" /><Relationship Type="http://schemas.openxmlformats.org/officeDocument/2006/relationships/notesSlide" Target="/ppt/notesSlides/notesSlide6.xml" Id="Ra8d3900ff25f46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11aaa4d074de3" /><Relationship Type="http://schemas.openxmlformats.org/officeDocument/2006/relationships/notesSlide" Target="/ppt/notesSlides/notesSlide7.xml" Id="R95221021494d45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df71b09e84105" /><Relationship Type="http://schemas.openxmlformats.org/officeDocument/2006/relationships/image" Target="/ppt/media/image.png" Id="R1c68474ba2764ce6" /><Relationship Type="http://schemas.openxmlformats.org/officeDocument/2006/relationships/notesSlide" Target="/ppt/notesSlides/notesSlide8.xml" Id="Red8a12721ef14c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c153e2d5b4e66" /><Relationship Type="http://schemas.openxmlformats.org/officeDocument/2006/relationships/notesSlide" Target="/ppt/notesSlides/notesSlide9.xml" Id="R6e8960e607774a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F5248-8460-49F9-A402-0E7EE89D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DEPARTMENT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7C63B-6AA5-4803-9912-AE2D0985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AI-Native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26526-EC51-43C0-AAB8-E0B281F9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561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6BDAC-5866-4227-97F1-62F08BDA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Golden Playbook for faster, safer, evidence-based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D2A39-69C3-4B1E-8AC4-4D07FD4B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 → Design → Plan → Implement → Validate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E0F0C-38D6-49C8-A983-E9D00689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103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00" b="0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>v1.11 Baseline Candidate</a:t>
            </a:r>
          </a:p>
        </p:txBody>
      </p:sp>
    </p:spTree>
    <p:extLst>
      <p:ext uri="{BB962C8B-B14F-4D97-AF65-F5344CB8AC3E}">
        <p14:creationId xmlns:p14="http://schemas.microsoft.com/office/powerpoint/2010/main" val="1451127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3FE033D-66FD-48F9-BD5B-BB55095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只有 Vibe Coding 不夠：我們要解的兩個工程問題</a:t>
            </a:r>
          </a:p>
        </p:txBody>
      </p:sp>
      <p:cxnSp>
        <p:nvCxnSpPr>
          <p:cNvPr id="225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6BFC-F52C-44C1-8405-957119A6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4A3A1-68E1-4207-AFA4-D8A9521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429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A021-266B-4788-9BBC-1258BEE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3"/>
          </a:solidFill>
          <a:ln xmlns:a="http://schemas.openxmlformats.org/drawingml/2006/main" w="0">
            <a:solidFill>
              <a:srgbClr val="163A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1578-E369-4BAE-B560-5A7E756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382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PROBLEM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7302B-A3EB-48CC-B6F5-DB990F5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4F60F-AB8B-4625-B263-C672230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A33C3-2CCF-4A54-81FF-0EB401E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50" b="1">
                <a:solidFill>
                  <a:srgbClr val="163A53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6842B-ABB5-4FF4-A1FD-E1CDCA1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不同大小的工作，需要不同深度的 AI development workflow。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7F80-F62D-40D2-92E2-ED78BB1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81125"/>
            <a:ext cx="5429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ABB4-DC44-41E1-9F46-1D949A9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81125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8C8"/>
          </a:solidFill>
          <a:ln xmlns:a="http://schemas.openxmlformats.org/drawingml/2006/main" w="0">
            <a:solidFill>
              <a:srgbClr val="1D7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2CCA2-507D-42DA-8734-85109C5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PROBLEM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6718B-9A73-4457-83A1-BB15F205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E8CF7-588E-4B22-B1D5-EBD03B72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AAA05-C9F4-41A3-8E51-7516AD0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50" b="1">
                <a:solidFill>
                  <a:srgbClr val="1D78C8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47F1E-5C6A-4C5D-9DA5-F8B7D34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Coding 變得又快又便宜；前面想錯，bad code 與技術債也會更快放大。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014B-D426-4312-9964-BB50BC0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509BE-B834-486F-9D0D-208CCDA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8DF"/>
          </a:solidFill>
          <a:ln xmlns:a="http://schemas.openxmlformats.org/drawingml/2006/main" w="0">
            <a:solidFill>
              <a:srgbClr val="46B8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849E1-4FD0-4CB6-955A-4697BB2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2C016-5C5A-465D-ACE0-B92F537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63A53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B0C43-A552-45B0-BE18-D698452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3E22B-FC08-462D-B6F0-B9AA25B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pic>
        <p:nvPicPr>
          <p:cNvPr id="2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1422cc8de4a13"/>
          <a:stretch xmlns:a="http://schemas.openxmlformats.org/drawingml/2006/main"/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2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2865fe45148b2"/>
          <a:stretch xmlns:a="http://schemas.openxmlformats.org/drawingml/2006/main"/>
        </p:blipFill>
        <p:spPr>
          <a:xfrm xmlns:a="http://schemas.openxmlformats.org/drawingml/2006/main">
            <a:off x="590550" y="2764875"/>
            <a:ext cx="5048250" cy="2471249"/>
          </a:xfrm>
          <a:prstGeom xmlns:a="http://schemas.openxmlformats.org/drawingml/2006/main" prst="rect">
            <a:avLst/>
          </a:prstGeom>
        </p:spPr>
      </p:pic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9d7739c2046d8"/>
          <a:stretch xmlns:a="http://schemas.openxmlformats.org/drawingml/2006/main"/>
        </p:blipFill>
        <p:spPr>
          <a:xfrm xmlns:a="http://schemas.openxmlformats.org/drawingml/2006/main">
            <a:off x="6419850" y="2725632"/>
            <a:ext cx="5048250" cy="25497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483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82D91BCB-78E4-48DE-AB3E-3192C385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這次建立的是：工程師每天能照著走的 AI Development Workflow</a:t>
            </a:r>
          </a:p>
        </p:txBody>
      </p:sp>
      <p:cxnSp>
        <p:nvCxnSpPr>
          <p:cNvPr id="626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45FA3-39F3-4294-8E7A-93466669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6A29F-86B2-4BF0-8F7C-EEEBD0E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4E358-0078-410C-9F81-89BCE37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rPr>
              <a:t>持久核心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7B60E-7A92-4B04-AB0E-2E2019BF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573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 models 會一直變強 · Engineering workflow / ownership / evidence 必須持久</a:t>
            </a:r>
          </a:p>
        </p:txBody>
      </p:sp>
      <p:cxnSp>
        <p:nvCxnSpPr>
          <p:cNvPr id="631" name=""/>
          <p:cNvCxnSpPr/>
          <p:nvPr/>
        </p:nvCxnSpPr>
        <p:spPr>
          <a:xfrm xmlns:a="http://schemas.openxmlformats.org/drawingml/2006/main">
            <a:off x="2190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632" name=""/>
          <p:cNvCxnSpPr/>
          <p:nvPr/>
        </p:nvCxnSpPr>
        <p:spPr>
          <a:xfrm xmlns:a="http://schemas.openxmlformats.org/drawingml/2006/main">
            <a:off x="4476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633" name=""/>
          <p:cNvCxnSpPr/>
          <p:nvPr/>
        </p:nvCxnSpPr>
        <p:spPr>
          <a:xfrm xmlns:a="http://schemas.openxmlformats.org/drawingml/2006/main">
            <a:off x="6762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634" name=""/>
          <p:cNvCxnSpPr/>
          <p:nvPr/>
        </p:nvCxnSpPr>
        <p:spPr>
          <a:xfrm xmlns:a="http://schemas.openxmlformats.org/drawingml/2006/main">
            <a:off x="9048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1358F-E088-428A-B623-2FBF6E55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B0859-CF74-45AC-AFD7-BD111C8E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1B6FF-1833-439F-96BC-617A9A08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60667-E9B8-4E21-9DB8-65087417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Problem · system · unknowns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4A4D7-EF87-46F2-8EC4-41EFAD2D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5FAAF-F5C6-4501-AC14-23FEB13A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4C97B-95D7-412C-8A35-EB23D475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87A97-2730-4256-A4F9-8FB19B7F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FR · NFR · boundary · trade-offs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5B2F2-4EA5-4B3B-B9BD-52E53AA9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DB9E7-C060-41E7-A080-BE7088D4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82BA4-2011-4057-917D-C12E55C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1AE2E6-D809-4519-87BC-D640C505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Work Level · slices · JIT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2EEDE-92F8-4110-AC0D-88768D9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44BAB-191C-4921-ADD4-E5AEC486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3E68D6-5720-449B-B45F-C9C1FA9E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Implement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23CAE-065D-4B9B-AC43-4A041DCD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Default skill · TDD ·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2A8C1-FBF5-4915-B9DE-02CA8C8D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049B17-7F99-4567-ACF7-0B63D882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9DD13C-9242-4308-A97E-AF0E92CE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Validate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901030-E5E2-44EF-B20F-A4855CE8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Acceptance · risk · evidence</a:t>
            </a:r>
          </a:p>
        </p:txBody>
      </p:sp>
      <p:cxnSp>
        <p:nvCxnSpPr>
          <p:cNvPr id="655" name=""/>
          <p:cNvCxnSpPr/>
          <p:nvPr/>
        </p:nvCxnSpPr>
        <p:spPr>
          <a:xfrm xmlns:a="http://schemas.openxmlformats.org/drawingml/2006/main">
            <a:off x="10487025" y="42672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076C5B-26B1-4CFF-8876-A40E9EA9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38700"/>
            <a:ext cx="4171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D2EE01-7DD3-4D89-B931-BA839CE0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006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不同大小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A5AEA1-A183-4F88-B87F-196210B3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1967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同一流程 · 深度不同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6A3A2F-C0C8-494A-B190-E7457D7B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同一 Golden Flow 適用 P3→P0；Golden defaults 經 10+ actual pilots 淬煉，可直接使用或採 approved equivalent。</a:t>
            </a:r>
          </a:p>
        </p:txBody>
      </p:sp>
    </p:spTree>
    <p:extLst>
      <p:ext uri="{BB962C8B-B14F-4D97-AF65-F5344CB8AC3E}">
        <p14:creationId xmlns:p14="http://schemas.microsoft.com/office/powerpoint/2010/main" val="593617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82D91BCB-78E4-48DE-AB3E-3192C385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新工作先回答六題；執行中只更新 Stage 與 Next Move</a:t>
            </a:r>
          </a:p>
        </p:txBody>
      </p:sp>
      <p:cxnSp>
        <p:nvCxnSpPr>
          <p:cNvPr id="626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45FA3-39F3-4294-8E7A-93466669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6A29F-86B2-4BF0-8F7C-EEEBD0E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4E358-0078-410C-9F81-89BCE37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rPr>
              <a:t>WHEN TO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7B60E-7A92-4B04-AB0E-2E2019BF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573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開始新工作：六題全答　|　執行中：更新 Stage · Next Move　|　Context 改變：六題重答</a:t>
            </a:r>
          </a:p>
        </p:txBody>
      </p:sp>
      <p:cxnSp>
        <p:nvCxnSpPr>
          <p:cNvPr id="631" name=""/>
          <p:cNvCxnSpPr/>
          <p:nvPr/>
        </p:nvCxnSpPr>
        <p:spPr>
          <a:xfrm xmlns:a="http://schemas.openxmlformats.org/drawingml/2006/main">
            <a:off x="2190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632" name=""/>
          <p:cNvCxnSpPr/>
          <p:nvPr/>
        </p:nvCxnSpPr>
        <p:spPr>
          <a:xfrm xmlns:a="http://schemas.openxmlformats.org/drawingml/2006/main">
            <a:off x="4476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633" name=""/>
          <p:cNvCxnSpPr/>
          <p:nvPr/>
        </p:nvCxnSpPr>
        <p:spPr>
          <a:xfrm xmlns:a="http://schemas.openxmlformats.org/drawingml/2006/main">
            <a:off x="6762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634" name=""/>
          <p:cNvCxnSpPr/>
          <p:nvPr/>
        </p:nvCxnSpPr>
        <p:spPr>
          <a:xfrm xmlns:a="http://schemas.openxmlformats.org/drawingml/2006/main">
            <a:off x="9048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1358F-E088-428A-B623-2FBF6E55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B0859-CF74-45AC-AFD7-BD111C8E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1B6FF-1833-439F-96BC-617A9A08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60667-E9B8-4E21-9DB8-65087417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Understand · Explore · Define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4A4D7-EF87-46F2-8EC4-41EFAD2D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5FAAF-F5C6-4501-AC14-23FEB13A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4C97B-95D7-412C-8A35-EB23D475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87A97-2730-4256-A4F9-8FB19B7F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System Design* · Feature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5B2F2-4EA5-4B3B-B9BD-52E53AA9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DB9E7-C060-41E7-A080-BE7088D4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82BA4-2011-4057-917D-C12E55C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1AE2E6-D809-4519-87BC-D640C505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P1→P0 · P0→tasks JIT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2EEDE-92F8-4110-AC0D-88768D9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44BAB-191C-4921-ADD4-E5AEC486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3E68D6-5720-449B-B45F-C9C1FA9E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Implement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23CAE-065D-4B9B-AC43-4A041DCD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TDD · bounded change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2A8C1-FBF5-4915-B9DE-02CA8C8D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049B17-7F99-4567-ACF7-0B63D882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9DD13C-9242-4308-A97E-AF0E92CE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Validate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901030-E5E2-44EF-B20F-A4855CE8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Review · fresh evidence</a:t>
            </a:r>
          </a:p>
        </p:txBody>
      </p:sp>
      <p:cxnSp>
        <p:nvCxnSpPr>
          <p:cNvPr id="655" name=""/>
          <p:cNvCxnSpPr/>
          <p:nvPr/>
        </p:nvCxnSpPr>
        <p:spPr>
          <a:xfrm xmlns:a="http://schemas.openxmlformats.org/drawingml/2006/main">
            <a:off x="10487025" y="42672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076C5B-26B1-4CFF-8876-A40E9EA9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38700"/>
            <a:ext cx="4171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D2EE01-7DD3-4D89-B931-BA839CE0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006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Release &amp; Operate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A5AEA1-A183-4F88-B87F-196210B3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1967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Observe · Recover · Learn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6A3A2F-C0C8-494A-B190-E7457D7B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* System Design：P3/P2 required · P1 risk-triggered · P0 normally skip</a:t>
            </a:r>
          </a:p>
        </p:txBody>
      </p:sp>
    </p:spTree>
    <p:extLst>
      <p:ext uri="{BB962C8B-B14F-4D97-AF65-F5344CB8AC3E}">
        <p14:creationId xmlns:p14="http://schemas.microsoft.com/office/powerpoint/2010/main" val="5936172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681F009-2D4D-411A-ACC3-F353D177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P3–P0 只決定深度；以下用 P1 Feature 示範</a:t>
            </a:r>
          </a:p>
        </p:txBody>
      </p:sp>
      <p:cxnSp>
        <p:nvCxnSpPr>
          <p:cNvPr id="154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587AA-F0B0-42A1-8454-A2774598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cxnSp>
        <p:nvCxnSpPr>
          <p:cNvPr id="156" name=""/>
          <p:cNvCxnSpPr/>
          <p:nvPr/>
        </p:nvCxnSpPr>
        <p:spPr>
          <a:xfrm xmlns:a="http://schemas.openxmlformats.org/drawingml/2006/main">
            <a:off x="1647825" y="23526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157" name=""/>
          <p:cNvCxnSpPr/>
          <p:nvPr/>
        </p:nvCxnSpPr>
        <p:spPr>
          <a:xfrm xmlns:a="http://schemas.openxmlformats.org/drawingml/2006/main">
            <a:off x="1647825" y="332422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158" name=""/>
          <p:cNvCxnSpPr/>
          <p:nvPr/>
        </p:nvCxnSpPr>
        <p:spPr>
          <a:xfrm xmlns:a="http://schemas.openxmlformats.org/drawingml/2006/main">
            <a:off x="1647825" y="42957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C1FCB-CCB7-4425-864C-C683484D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4591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3E688-AC70-470C-9439-01BE3F39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B5485-C9DB-40C6-BD35-E428A477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4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Product / Program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E2560-5DB8-4A86-9EDD-645E8B31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7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方向、architecture、Epic / Wave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09FE0-09C1-4312-A78A-6FB918D5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436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F1BF3-C854-4B93-BAD1-9FA14623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1B747-7C20-4D67-849E-E93A7E6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67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Epic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591CC-668F-4960-BE13-C10AF9E1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43225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跨 Feature capability、System Design、Feature 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CC2CB-4B9C-40EE-94B8-2225C907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4133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D4B2D-5353-4B7D-9D80-152FEBE7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A8C38-662B-4DE9-B41F-67E4F877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Feature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A5780-B63C-4593-9FEE-FD9149C9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1477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本 deck example：approved outcome → P0 slices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B42A5-5BE1-46A9-A584-D6CE98DA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67225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91BD1-D2C3-441D-AF6A-F3E8DBE9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291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F14D5-824C-4329-B7D2-2AB2BC81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10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PBI / User 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51949-8076-4CAF-AFF2-42C1CBF1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86325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Sprint-ready tracer bullet、independent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A1089-EC1C-41FF-A5B8-F9B0BCB9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4114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41CFE6-E3B3-4238-A617-B6916B7F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29275"/>
            <a:ext cx="3762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Execution Layer  ·  Task / Plan Step / Commit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E48382-AF37-4B9A-8EA8-5EE3F5E1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906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判斷規則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DB2BA-1C5B-4FF2-A15C-3D184200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95500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E75C58-7262-4E6A-A705-16F8828B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47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D1BEAB-9602-4960-961A-E385A008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2098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P1 是可整體驗收 / release / control 的 Feature outcome。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6DAFC5-3A0E-44D4-A2D8-557BF9F8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86075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D8B9F9-1F1D-4D68-896A-999622EA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38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41B089-2C43-4024-BE34-F5E46997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003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P1 的 Plan 不是 files / tasks；先切成 P0 vertical slices。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96AA9F-24E8-43DA-9BD8-95D444F1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76650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8F20EC-C9B2-4F62-A464-6E8E4C2F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29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939E55-C12B-4D1C-89E7-505AFA7C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7909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P0 是 Sprint-ready、narrow but complete、可獨立驗證。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D1DBAF-622D-447B-B183-6D5AD300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67225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89943C-1971-4DFF-91FB-57AF91E8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19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75DA8F-0A42-4796-A9B3-E203EEA0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5815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Task / Plan Step / Commit 位於 P0 下方，不是 Work Level。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418BEC-328C-4D73-AC98-B6E35FF8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4673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接下來全部用 P1 Feature 示範一條具體 Golden Path。</a:t>
            </a:r>
          </a:p>
        </p:txBody>
      </p:sp>
    </p:spTree>
    <p:extLst>
      <p:ext uri="{BB962C8B-B14F-4D97-AF65-F5344CB8AC3E}">
        <p14:creationId xmlns:p14="http://schemas.microsoft.com/office/powerpoint/2010/main" val="1962828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4B90C45-1B97-45CC-9A3D-9C69B8F8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P1 Feature 的 Plan：先切 P0，再做 JIT implementation plan</a:t>
            </a:r>
          </a:p>
        </p:txBody>
      </p:sp>
      <p:cxnSp>
        <p:nvCxnSpPr>
          <p:cNvPr id="161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28BDE-FF90-43B1-9EAE-F6FF6BBF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cxnSp>
        <p:nvCxnSpPr>
          <p:cNvPr id="163" name=""/>
          <p:cNvCxnSpPr/>
          <p:nvPr/>
        </p:nvCxnSpPr>
        <p:spPr>
          <a:xfrm xmlns:a="http://schemas.openxmlformats.org/drawingml/2006/main">
            <a:off x="24955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164" name=""/>
          <p:cNvCxnSpPr/>
          <p:nvPr/>
        </p:nvCxnSpPr>
        <p:spPr>
          <a:xfrm xmlns:a="http://schemas.openxmlformats.org/drawingml/2006/main">
            <a:off x="46672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165" name=""/>
          <p:cNvCxnSpPr/>
          <p:nvPr/>
        </p:nvCxnSpPr>
        <p:spPr>
          <a:xfrm xmlns:a="http://schemas.openxmlformats.org/drawingml/2006/main">
            <a:off x="75247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166" name=""/>
          <p:cNvCxnSpPr/>
          <p:nvPr/>
        </p:nvCxnSpPr>
        <p:spPr>
          <a:xfrm xmlns:a="http://schemas.openxmlformats.org/drawingml/2006/main">
            <a:off x="96964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91A2A-FA1F-481B-9331-3A7D4DD0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019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7BBD5-D394-43DF-BBEF-6FDD84CD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Approved P1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Feature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36225-876D-4706-AA79-E9EB426D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905A7-5BA4-4B65-8363-257973F0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to-tickets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EA47F-27B4-4826-BFA9-6F6E87C5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002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596F8-4758-4B64-95BB-FDA2B106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3362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P0 tracer bullets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+ Blocked by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81A72-E61C-440E-BF33-F7BB4B97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02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0F0A8-2EA8-4843-9F4A-CBCBF6AB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33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writing-plans*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3E6ED-2864-4100-AF6E-6A01596F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F4AC5-C8E6-4519-8ACA-392E239E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33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602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Execution Tasks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files · tests · commands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79FFA-A9FD-46CD-8371-6DAAB4D4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4714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80ECAD-5FB6-4D2F-ADB4-E3097CB4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24275"/>
            <a:ext cx="452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DELIVERY DECOMPOSITION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04B21-ADC8-456A-A4CC-BE2AEF14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P1 → P0：每張 ticket 是 narrow but complete tracer bullet。沒有 blocker 的項目形成 execution frontier。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900D71-64BE-433D-A527-5A77EE53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667125"/>
            <a:ext cx="5495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26253A-0FBE-41D8-B68B-FE70C40B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724275"/>
            <a:ext cx="5305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IMPLEMENTATION PLANNING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798D3-2490-4362-A382-630EEF84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95750"/>
            <a:ext cx="54959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單一 P0 即將執行且 multi-step / risky / complex 時才產生 exact implementation plan。簡單 P0 可 inline。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E9A72-0810-4300-A8C9-4A372AB8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E8893E-C6C7-477B-87BC-4F367A6D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53075"/>
            <a:ext cx="1100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禁止：先替整個 Epic / Feature 建立巨大 implementation plan。Wide refactor 使用 expand → migrate batches → contract。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CFB789-785E-4489-8B02-0F4E120C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藍色 = Golden default skill · writing-plans only when triggered · existing OpenSpec plan stays SSOT</a:t>
            </a:r>
          </a:p>
        </p:txBody>
      </p:sp>
    </p:spTree>
    <p:extLst>
      <p:ext uri="{BB962C8B-B14F-4D97-AF65-F5344CB8AC3E}">
        <p14:creationId xmlns:p14="http://schemas.microsoft.com/office/powerpoint/2010/main" val="909372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93FE033D-66FD-48F9-BD5B-BB55095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工程師只要記住：一張 Feature，沿 Golden Flow 走到底</a:t>
            </a:r>
          </a:p>
        </p:txBody>
      </p:sp>
      <p:cxnSp>
        <p:nvCxnSpPr>
          <p:cNvPr id="505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6BFC-F52C-44C1-8405-957119A6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4A3A1-68E1-4207-AFA4-D8A9521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A021-266B-4788-9BBC-1258BEE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1578-E369-4BAE-B560-5A7E756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 · 把問題弄對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7302B-A3EB-48CC-B6F5-DB990F5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 →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4F60F-AB8B-4625-B263-C672230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問：change boundary / FR / NFR？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用：read-only codebase research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→ brainstorming / grill-me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留：approved Feature Design</a:t>
            </a:r>
          </a:p>
        </p:txBody>
      </p:sp>
      <p:cxnSp>
        <p:nvCxnSpPr>
          <p:cNvPr id="512" name=""/>
          <p:cNvCxnSpPr/>
          <p:nvPr/>
        </p:nvCxnSpPr>
        <p:spPr>
          <a:xfrm xmlns:a="http://schemas.openxmlformats.org/drawingml/2006/main">
            <a:off x="628650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A33C3-2CCF-4A54-81FF-0EB401E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DONE WHEN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6842B-ABB5-4FF4-A1FD-E1CDCA1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Understanding + Change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7F80-F62D-40D2-92E2-ED78BB1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ABB4-DC44-41E1-9F46-1D949A9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2CCA2-507D-42DA-8734-85109C5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 · 把交付切小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6718B-9A73-4457-83A1-BB15F205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Plan → Implement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E8CF7-588E-4B22-B1D5-EBD03B72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to-tickets → P0 vertical slices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Blocked by → execution frontier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writing-plans → JIT tasks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TDD → small reviewable change</a:t>
            </a:r>
          </a:p>
        </p:txBody>
      </p:sp>
      <p:cxnSp>
        <p:nvCxnSpPr>
          <p:cNvPr id="520" name=""/>
          <p:cNvCxnSpPr/>
          <p:nvPr/>
        </p:nvCxnSpPr>
        <p:spPr>
          <a:xfrm xmlns:a="http://schemas.openxmlformats.org/drawingml/2006/main">
            <a:off x="4505325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AAA05-C9F4-41A3-8E51-7516AD0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DONE WHEN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47F1E-5C6A-4C5D-9DA5-F8B7D34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P0 acceptance +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014B-D426-4312-9964-BB50BC0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509BE-B834-486F-9D0D-208CCDA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849E1-4FD0-4CB6-955A-4697BB2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 · 用證據完成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2C016-5C5A-465D-ACE0-B92F537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Validate → Release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B0C43-A552-45B0-BE18-D698452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Review actual diff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Verify acceptance + affected risk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Prepare rollback / observe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Hand off to existing release / E3</a:t>
            </a:r>
          </a:p>
        </p:txBody>
      </p:sp>
      <p:cxnSp>
        <p:nvCxnSpPr>
          <p:cNvPr id="528" name=""/>
          <p:cNvCxnSpPr/>
          <p:nvPr/>
        </p:nvCxnSpPr>
        <p:spPr>
          <a:xfrm xmlns:a="http://schemas.openxmlformats.org/drawingml/2006/main">
            <a:off x="8382000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36404-A14D-4C18-A696-0256E9DC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DONE WHEN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6CEE82-16AE-4E5F-95FD-6B69D0ED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Evidence Gate + release readiness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3E22B-FC08-462D-B6F0-B9AA25B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TAKEAWAY · Golden Flow 決定下一步；default capability 決定怎麼做；risk 只改變 rigor，不改變路徑。</a:t>
            </a:r>
          </a:p>
        </p:txBody>
      </p:sp>
    </p:spTree>
    <p:extLst>
      <p:ext uri="{BB962C8B-B14F-4D97-AF65-F5344CB8AC3E}">
        <p14:creationId xmlns:p14="http://schemas.microsoft.com/office/powerpoint/2010/main" val="5340483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93FE033D-66FD-48F9-BD5B-BB55095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AI Engineering：Design / Implement 各 1.5 週，總時間 8 → 6 週</a:t>
            </a:r>
          </a:p>
        </p:txBody>
      </p:sp>
      <p:cxnSp>
        <p:nvCxnSpPr>
          <p:cNvPr id="219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6BFC-F52C-44C1-8405-957119A6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4A3A1-68E1-4207-AFA4-D8A9521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476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A021-266B-4788-9BBC-1258BEE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3"/>
          </a:solidFill>
          <a:ln xmlns:a="http://schemas.openxmlformats.org/drawingml/2006/main" w="0">
            <a:solidFill>
              <a:srgbClr val="163A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1578-E369-4BAE-B560-5A7E756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COLLABORATION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7302B-A3EB-48CC-B6F5-DB990F5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3019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↑ Shared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4F60F-AB8B-4625-B263-C672230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3019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documented decisions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shared evidence · handoff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A33C3-2CCF-4A54-81FF-0EB401E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50" b="1">
                <a:solidFill>
                  <a:srgbClr val="163A53"/>
                </a:solidFill>
                <a:latin typeface="Noto Sans TC"/>
                <a:ea typeface="Noto Sans TC"/>
                <a:cs typeface="Noto Sans TC"/>
              </a:rPr>
              <a:t>AS-IS · 8 WEEKS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6842B-ABB5-4FF4-A1FD-E1CDCA1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4 × 2-week sprints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single-repo research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unclear FR/NFR · thin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7F80-F62D-40D2-92E2-ED78BB1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52950"/>
            <a:ext cx="3476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ABB4-DC44-41E1-9F46-1D949A9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529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8C8"/>
          </a:solidFill>
          <a:ln xmlns:a="http://schemas.openxmlformats.org/drawingml/2006/main" w="0">
            <a:solidFill>
              <a:srgbClr val="1D7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2CCA2-507D-42DA-8734-85109C5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6101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LEAD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6718B-9A73-4457-83A1-BB15F205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62525"/>
            <a:ext cx="3019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8 → 6 wk 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E8CF7-588E-4B22-B1D5-EBD03B72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95900"/>
            <a:ext cx="3019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faster implementation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fewer rework loops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AAA05-C9F4-41A3-8E51-7516AD0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3847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50" b="1">
                <a:solidFill>
                  <a:srgbClr val="1D78C8"/>
                </a:solidFill>
                <a:latin typeface="Noto Sans TC"/>
                <a:ea typeface="Noto Sans TC"/>
                <a:cs typeface="Noto Sans TC"/>
              </a:rPr>
              <a:t>AI · 6 WEEKS · -25%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47F1E-5C6A-4C5D-9DA5-F8B7D34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1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≈ 3 × 2-week sprints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system-wide research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explicit design · TDD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014B-D426-4312-9964-BB50BC0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52950"/>
            <a:ext cx="3476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509BE-B834-486F-9D0D-208CCDA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529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8DF"/>
          </a:solidFill>
          <a:ln xmlns:a="http://schemas.openxmlformats.org/drawingml/2006/main" w="0">
            <a:solidFill>
              <a:srgbClr val="46B8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849E1-4FD0-4CB6-955A-4697BB2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101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CHANGE FAILURE 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2C016-5C5A-465D-ACE0-B92F537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62525"/>
            <a:ext cx="3019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63A53"/>
                </a:solidFill>
                <a:latin typeface="Noto Sans TC"/>
                <a:ea typeface="Noto Sans TC"/>
                <a:cs typeface="Noto Sans TC"/>
              </a:rPr>
              <a:t>↓ Lower 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B0C43-A552-45B0-BE18-D698452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95900"/>
            <a:ext cx="3019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design · code · test quality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release readiness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3E22B-FC08-462D-B6F0-B9AA25B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>Illustrative target allocation：stages may overlap；需以既有 10+ pilots actual baseline 持續校準。</a:t>
            </a:r>
          </a:p>
        </p:txBody>
      </p:sp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8474ba2764ce6"/>
          <a:srcRect xmlns:a="http://schemas.openxmlformats.org/drawingml/2006/main" l="125" t="0" r="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8558" y="1476375"/>
            <a:ext cx="8741833" cy="2809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483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B983216B-B198-4B14-A0A9-6CF04FB5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478E5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2478E5"/>
                </a:solidFill>
                <a:latin typeface="Nimbus Sans"/>
                <a:ea typeface="Nimbus Sans"/>
                <a:cs typeface="Nimbus Sans"/>
              </a:rPr>
              <a:t>START WITH A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67F9D-C209-4CBC-B9DD-AB7A7D10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明天從一張 P1 Feature 開始：六個問題全部回答</a:t>
            </a:r>
          </a:p>
        </p:txBody>
      </p:sp>
      <p:cxnSp>
        <p:nvCxnSpPr>
          <p:cNvPr id="419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75A72-5745-4C7E-B098-7D5AF62A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AD55B-C19C-4B6C-A349-C2B0CC0D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P1 FEATURE · 60-SECOND 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0A5C1-B68D-47AD-9009-56B9A69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D2C76-2802-408E-A12C-7AF06296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工作位置？ existing activity / system of record</a:t>
            </a:r>
          </a:p>
        </p:txBody>
      </p:sp>
      <p:cxnSp>
        <p:nvCxnSpPr>
          <p:cNvPr id="424" name=""/>
          <p:cNvCxnSpPr/>
          <p:nvPr/>
        </p:nvCxnSpPr>
        <p:spPr>
          <a:xfrm xmlns:a="http://schemas.openxmlformats.org/drawingml/2006/main">
            <a:off x="914400" y="240982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124EC-0E88-44EC-AC94-B26B74D9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F5DA1-1519-47AD-90FB-8482D8AB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Work Level？ P3 / P2 / P1 / P0</a:t>
            </a:r>
          </a:p>
        </p:txBody>
      </p:sp>
      <p:cxnSp>
        <p:nvCxnSpPr>
          <p:cNvPr id="427" name=""/>
          <p:cNvCxnSpPr/>
          <p:nvPr/>
        </p:nvCxnSpPr>
        <p:spPr>
          <a:xfrm xmlns:a="http://schemas.openxmlformats.org/drawingml/2006/main">
            <a:off x="914400" y="304800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BB758-A06A-43D7-9FEF-1CB8A55F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8F88E-9677-4CEA-A527-08C99AFB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Archetype？ Greenfield / Modernization / Standard</a:t>
            </a:r>
          </a:p>
        </p:txBody>
      </p:sp>
      <p:cxnSp>
        <p:nvCxnSpPr>
          <p:cNvPr id="430" name=""/>
          <p:cNvCxnSpPr/>
          <p:nvPr/>
        </p:nvCxnSpPr>
        <p:spPr>
          <a:xfrm xmlns:a="http://schemas.openxmlformats.org/drawingml/2006/main">
            <a:off x="914400" y="368617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046E0-440B-4A81-BCA5-60A57B44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338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15CA2-2FA4-404B-BA2C-02ADAD9B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Current Stage？ 第一個還不能可靠回答的問題</a:t>
            </a:r>
          </a:p>
        </p:txBody>
      </p:sp>
      <p:cxnSp>
        <p:nvCxnSpPr>
          <p:cNvPr id="433" name=""/>
          <p:cNvCxnSpPr/>
          <p:nvPr/>
        </p:nvCxnSpPr>
        <p:spPr>
          <a:xfrm xmlns:a="http://schemas.openxmlformats.org/drawingml/2006/main">
            <a:off x="914400" y="432435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831D7-138A-4BDC-8FF6-427E0BD1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8BE8E-3438-4E8C-A119-4C66F17E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Control Profile？ criticality / risk / AI authority</a:t>
            </a:r>
          </a:p>
        </p:txBody>
      </p:sp>
      <p:cxnSp>
        <p:nvCxnSpPr>
          <p:cNvPr id="436" name=""/>
          <p:cNvCxnSpPr/>
          <p:nvPr/>
        </p:nvCxnSpPr>
        <p:spPr>
          <a:xfrm xmlns:a="http://schemas.openxmlformats.org/drawingml/2006/main">
            <a:off x="914400" y="496252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E04C2-D91B-4AD5-B9DE-9CC1B22C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504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WHAT CHANGES TOMORROW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E7B23-8F86-406C-8D93-CA04322B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81200"/>
            <a:ext cx="5114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3C903-718C-4B4C-A936-43382A1A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526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Engineer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B1E74-661F-488A-94AB-FEEFD207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1455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Use active defaults；candidate skill 不阻塞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8CCEE7-B911-4EAC-B337-FD38145F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14650"/>
            <a:ext cx="5114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EF652-3839-44D2-AAE3-2E1E6287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Tech Lead / Architect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380E2-ABA0-4A44-B641-2461032E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Approve design、equivalent skills 與 gate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90D183-62FB-4E1B-BD16-2F5F80E0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48100"/>
            <a:ext cx="5114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2CEC29-8CA1-4ECE-86E5-A766F74D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95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Manager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70A761-77A8-4094-90A6-6F9AE98E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8145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Integrate existing workflow；remove blockers；review outcomes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CF1388-212A-4E0D-9FF4-9BE8C382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972050"/>
            <a:ext cx="51149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251B0D-141E-4FF1-91D9-124435B4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1530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rPr>
              <a:t>TEAM ADAPTER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BBF877-E486-4CA7-B87E-4321FF11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578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1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Map local activity → Golden Stage / Gate / artifact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Department：minimum contract + defaults · Team：approved equivalents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2AA94C-EF1D-441A-911C-3E17E1EF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055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開始新工作六題全答；執行中更新 Stage／Next Move；context 改變時六題重答。</a:t>
            </a:r>
          </a:p>
        </p:txBody>
      </p:sp>
      <p:sp>
        <p:nvSpPr>
          <p:cNvPr id="255" name="six-question-6-number">
            <a:extLst xmlns:a="http://schemas.openxmlformats.org/drawingml/2006/main">
              <a:ext uri="{FF2B5EF4-FFF2-40B4-BE49-F238E27FC236}">
                <a16:creationId xmlns:a16="http://schemas.microsoft.com/office/drawing/2014/main" id="{C49DD5BE-0086-4E18-9DBE-6A238C75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  <p:sp>
        <p:nvSpPr>
          <p:cNvPr id="256" name="six-question-6-text">
            <a:extLst xmlns:a="http://schemas.openxmlformats.org/drawingml/2006/main">
              <a:ext uri="{FF2B5EF4-FFF2-40B4-BE49-F238E27FC236}">
                <a16:creationId xmlns:a16="http://schemas.microsoft.com/office/drawing/2014/main" id="{E784FF07-403A-4FFD-8F21-6F58BD01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Next Move？ capability → evidence → Gate</a:t>
            </a:r>
          </a:p>
        </p:txBody>
      </p:sp>
    </p:spTree>
    <p:extLst>
      <p:ext uri="{BB962C8B-B14F-4D97-AF65-F5344CB8AC3E}">
        <p14:creationId xmlns:p14="http://schemas.microsoft.com/office/powerpoint/2010/main" val="1783262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2026-07-18T13:25:44.5170000Z</dcterms:created>
  <dcterms:modified xsi:type="dcterms:W3CDTF">2026-07-18T13:25:44.5170000Z</dcterms:modified>
</coreProperties>
</file>
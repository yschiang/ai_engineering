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8fdfd9dfe4441a" /><Relationship Type="http://schemas.openxmlformats.org/officeDocument/2006/relationships/extended-properties" Target="/docProps/app.xml" Id="Ra5dffff777b94a86" /><Relationship Type="http://schemas.openxmlformats.org/officeDocument/2006/relationships/officeDocument" Target="/ppt/presentation.xml" Id="R17dbf844959542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f98b44952e4941"/>
  </p:sldMasterIdLst>
  <p:notesMasterIdLst>
    <p:notesMasterId xmlns:r="http://schemas.openxmlformats.org/officeDocument/2006/relationships" r:id="R5907cea19c8b4f46"/>
  </p:notesMasterIdLst>
  <p:sldIdLst>
    <p:sldId xmlns:r="http://schemas.openxmlformats.org/officeDocument/2006/relationships" id="256" r:id="R6c6808a2cb1f4ed9"/>
    <p:sldId xmlns:r="http://schemas.openxmlformats.org/officeDocument/2006/relationships" id="257" r:id="Rb8a7c926bfaa4b88"/>
    <p:sldId xmlns:r="http://schemas.openxmlformats.org/officeDocument/2006/relationships" id="258" r:id="R87bd66036b4243d6"/>
    <p:sldId xmlns:r="http://schemas.openxmlformats.org/officeDocument/2006/relationships" id="259" r:id="R184d36e8f57a4088"/>
    <p:sldId xmlns:r="http://schemas.openxmlformats.org/officeDocument/2006/relationships" id="260" r:id="R5d4c4f4f3d1d44af"/>
    <p:sldId xmlns:r="http://schemas.openxmlformats.org/officeDocument/2006/relationships" id="261" r:id="R6ff906b268ba44f9"/>
    <p:sldId xmlns:r="http://schemas.openxmlformats.org/officeDocument/2006/relationships" id="262" r:id="R7ccb450144984281"/>
    <p:sldId xmlns:r="http://schemas.openxmlformats.org/officeDocument/2006/relationships" id="263" r:id="Rf583792f217142fa"/>
    <p:sldId xmlns:r="http://schemas.openxmlformats.org/officeDocument/2006/relationships" id="264" r:id="Re1591e8753f54f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7d189cae754a87" /><Relationship Type="http://schemas.openxmlformats.org/officeDocument/2006/relationships/slideMaster" Target="/ppt/slideMasters/slideMaster1.xml" Id="R77f98b44952e4941" /><Relationship Type="http://schemas.openxmlformats.org/officeDocument/2006/relationships/notesMaster" Target="/ppt/notesMasters/notesMaster1.xml" Id="R5907cea19c8b4f46" /><Relationship Type="http://schemas.openxmlformats.org/officeDocument/2006/relationships/presProps" Target="/ppt/presProps.xml" Id="R8e81af2462bd475b" /><Relationship Type="http://schemas.openxmlformats.org/officeDocument/2006/relationships/tableStyles" Target="/ppt/tableStyles.xml" Id="R9a6df3315f4a4fc3" /><Relationship Type="http://schemas.openxmlformats.org/officeDocument/2006/relationships/slide" Target="/ppt/slides/slide1.xml" Id="R6c6808a2cb1f4ed9" /><Relationship Type="http://schemas.openxmlformats.org/officeDocument/2006/relationships/slide" Target="/ppt/slides/slide2.xml" Id="Rb8a7c926bfaa4b88" /><Relationship Type="http://schemas.openxmlformats.org/officeDocument/2006/relationships/slide" Target="/ppt/slides/slide3.xml" Id="R87bd66036b4243d6" /><Relationship Type="http://schemas.openxmlformats.org/officeDocument/2006/relationships/slide" Target="/ppt/slides/slide4.xml" Id="R184d36e8f57a4088" /><Relationship Type="http://schemas.openxmlformats.org/officeDocument/2006/relationships/slide" Target="/ppt/slides/slide5.xml" Id="R5d4c4f4f3d1d44af" /><Relationship Type="http://schemas.openxmlformats.org/officeDocument/2006/relationships/slide" Target="/ppt/slides/slide6.xml" Id="R6ff906b268ba44f9" /><Relationship Type="http://schemas.openxmlformats.org/officeDocument/2006/relationships/slide" Target="/ppt/slides/slide7.xml" Id="R7ccb450144984281" /><Relationship Type="http://schemas.openxmlformats.org/officeDocument/2006/relationships/slide" Target="/ppt/slides/slide8.xml" Id="Rf583792f217142fa" /><Relationship Type="http://schemas.openxmlformats.org/officeDocument/2006/relationships/slide" Target="/ppt/slides/slide9.xml" Id="Re1591e8753f54f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099ae6888242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73d93e79f4c96" /><Relationship Type="http://schemas.openxmlformats.org/officeDocument/2006/relationships/notesMaster" Target="/ppt/notesMasters/notesMaster1.xml" Id="R8c21afb0d3cb4a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1736a920d145e1" /><Relationship Type="http://schemas.openxmlformats.org/officeDocument/2006/relationships/notesMaster" Target="/ppt/notesMasters/notesMaster1.xml" Id="R2106a5dcc411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13d134dd9747af" /><Relationship Type="http://schemas.openxmlformats.org/officeDocument/2006/relationships/notesMaster" Target="/ppt/notesMasters/notesMaster1.xml" Id="Rebc79453ea304c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ae9b6f96c04215" /><Relationship Type="http://schemas.openxmlformats.org/officeDocument/2006/relationships/notesMaster" Target="/ppt/notesMasters/notesMaster1.xml" Id="R78c2a3b903a34a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c5814990d4cc4" /><Relationship Type="http://schemas.openxmlformats.org/officeDocument/2006/relationships/notesMaster" Target="/ppt/notesMasters/notesMaster1.xml" Id="R6a7626dd18aa41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6ddbc577e347d7" /><Relationship Type="http://schemas.openxmlformats.org/officeDocument/2006/relationships/notesMaster" Target="/ppt/notesMasters/notesMaster1.xml" Id="Rcee6f9ce404143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be813bb7914de8" /><Relationship Type="http://schemas.openxmlformats.org/officeDocument/2006/relationships/notesMaster" Target="/ppt/notesMasters/notesMaster1.xml" Id="R5722cb6d2ab945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72c8c279d84078" /><Relationship Type="http://schemas.openxmlformats.org/officeDocument/2006/relationships/notesMaster" Target="/ppt/notesMasters/notesMaster1.xml" Id="R97f9ddf38d194a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b2d546fe2e4841" /><Relationship Type="http://schemas.openxmlformats.org/officeDocument/2006/relationships/notesMaster" Target="/ppt/notesMasters/notesMaster1.xml" Id="R6a0e856c3d8e4d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ef3dc3b0449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bb6374e8644d93" /><Relationship Type="http://schemas.openxmlformats.org/officeDocument/2006/relationships/slideLayout" Target="/ppt/slideLayouts/slideLayout1.xml" Id="Re7680494be3743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80494be3743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872e3f85a4b2b" /><Relationship Type="http://schemas.openxmlformats.org/officeDocument/2006/relationships/notesSlide" Target="/ppt/notesSlides/notesSlide1.xml" Id="R711b555d596e4a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105a25c6c4e80" /><Relationship Type="http://schemas.openxmlformats.org/officeDocument/2006/relationships/image" Target="/ppt/media/image.png" Id="R80c38a346eb44d8d" /><Relationship Type="http://schemas.openxmlformats.org/officeDocument/2006/relationships/image" Target="/ppt/media/image2.png" Id="R00fc49e325f84afa" /><Relationship Type="http://schemas.openxmlformats.org/officeDocument/2006/relationships/image" Target="/ppt/media/image3.png" Id="R9cf41969f7ea493e" /><Relationship Type="http://schemas.openxmlformats.org/officeDocument/2006/relationships/notesSlide" Target="/ppt/notesSlides/notesSlide2.xml" Id="Rc686bcf5cfae43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c8901e19b47d3" /><Relationship Type="http://schemas.openxmlformats.org/officeDocument/2006/relationships/notesSlide" Target="/ppt/notesSlides/notesSlide3.xml" Id="Rd0374dd40e5d47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edbf516d74cc2" /><Relationship Type="http://schemas.openxmlformats.org/officeDocument/2006/relationships/notesSlide" Target="/ppt/notesSlides/notesSlide4.xml" Id="R0672c0bf1ce247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ec19f0e0f4a57" /><Relationship Type="http://schemas.openxmlformats.org/officeDocument/2006/relationships/notesSlide" Target="/ppt/notesSlides/notesSlide5.xml" Id="R28a2461330eb47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1b13594e54197" /><Relationship Type="http://schemas.openxmlformats.org/officeDocument/2006/relationships/notesSlide" Target="/ppt/notesSlides/notesSlide6.xml" Id="Re3da608eea18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0a4f32fd24882" /><Relationship Type="http://schemas.openxmlformats.org/officeDocument/2006/relationships/notesSlide" Target="/ppt/notesSlides/notesSlide7.xml" Id="Rbd16af567df946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80be848424436" /><Relationship Type="http://schemas.openxmlformats.org/officeDocument/2006/relationships/image" Target="/ppt/media/image.png" Id="R1d13407c32f94a9e" /><Relationship Type="http://schemas.openxmlformats.org/officeDocument/2006/relationships/notesSlide" Target="/ppt/notesSlides/notesSlide8.xml" Id="R0fa23478a9be43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a736dc11b4d50" /><Relationship Type="http://schemas.openxmlformats.org/officeDocument/2006/relationships/notesSlide" Target="/ppt/notesSlides/notesSlide9.xml" Id="Rb497d290453e42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F5248-8460-49F9-A402-0E7EE89D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DEPARTMENT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C63B-6AA5-4803-9912-AE2D098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AI-Native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6526-EC51-43C0-AAB8-E0B281F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61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6BDAC-5866-4227-97F1-62F08BD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Golden Playbook for faster, safer, evidence-based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D2A39-69C3-4B1E-8AC4-4D07FD4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 → Plan → Implement → 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0F0C-38D6-49C8-A983-E9D0068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10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v1.14 Baseline Candidate</a:t>
            </a:r>
          </a:p>
        </p:txBody>
      </p:sp>
    </p:spTree>
    <p:extLst>
      <p:ext uri="{BB962C8B-B14F-4D97-AF65-F5344CB8AC3E}">
        <p14:creationId xmlns:p14="http://schemas.microsoft.com/office/powerpoint/2010/main" val="1451127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只有 Vibe Coding 不夠：我們要解的兩個工程問題</a:t>
            </a:r>
          </a:p>
        </p:txBody>
      </p:sp>
      <p:cxnSp>
        <p:nvCxnSpPr>
          <p:cNvPr id="256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29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PROBLEM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不同大小的工作，需要不同深度的 AI development workflow。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81125"/>
            <a:ext cx="5429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811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PROBLEM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Coding 變得又快又便宜；前面想錯，bad code 與技術債也會更快放大。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38a346eb44d8d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c49e325f84afa"/>
          <a:stretch xmlns:a="http://schemas.openxmlformats.org/drawingml/2006/main"/>
        </p:blipFill>
        <p:spPr>
          <a:xfrm xmlns:a="http://schemas.openxmlformats.org/drawingml/2006/main">
            <a:off x="590550" y="2764875"/>
            <a:ext cx="5048250" cy="2471249"/>
          </a:xfrm>
          <a:prstGeom xmlns:a="http://schemas.openxmlformats.org/drawingml/2006/main" prst="rect">
            <a:avLst/>
          </a:prstGeom>
        </p:spPr>
      </p:pic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41969f7ea493e"/>
          <a:stretch xmlns:a="http://schemas.openxmlformats.org/drawingml/2006/main"/>
        </p:blipFill>
        <p:spPr>
          <a:xfrm xmlns:a="http://schemas.openxmlformats.org/drawingml/2006/main">
            <a:off x="6419850" y="2725632"/>
            <a:ext cx="5048250" cy="2549736"/>
          </a:xfrm>
          <a:prstGeom xmlns:a="http://schemas.openxmlformats.org/drawingml/2006/main" prst="rect">
            <a:avLst/>
          </a:prstGeom>
        </p:spPr>
      </p:pic>
      <p:sp>
        <p:nvSpPr>
          <p:cNvPr id="244" name="Human leverage note">
            <a:extLst xmlns:a="http://schemas.openxmlformats.org/drawingml/2006/main">
              <a:ext uri="{FF2B5EF4-FFF2-40B4-BE49-F238E27FC236}">
                <a16:creationId xmlns:a16="http://schemas.microsoft.com/office/drawing/2014/main" id="{3BCC93CE-0A5A-48A8-AD30-34F73E3A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AI 先自動化 coding；software engineering 的價值移向問題定義、設計判斷與責任。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執行愈多，工程責任愈需要清楚分工</a:t>
            </a:r>
          </a:p>
        </p:txBody>
      </p:sp>
      <p:cxnSp>
        <p:nvCxnSpPr>
          <p:cNvPr id="65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HUMAN JUDGMENT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人決定方向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定義問題與 outcome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做 design trade-off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決定 scope / risk / approval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對結果負責</a:t>
            </a:r>
          </a:p>
        </p:txBody>
      </p:sp>
      <p:cxnSp>
        <p:nvCxnSpPr>
          <p:cNvPr id="662" name=""/>
          <p:cNvCxnSpPr/>
          <p:nvPr/>
        </p:nvCxnSpPr>
        <p:spPr>
          <a:xfrm xmlns:a="http://schemas.openxmlformats.org/drawingml/2006/main">
            <a:off x="62865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OWNS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Intent · design ·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DURABLE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流程保存共識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Golden Flow：決定下一步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OpenSpec：durable agreement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Superpowers：engineering discipline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CI / PR：evidence trail</a:t>
            </a:r>
          </a:p>
        </p:txBody>
      </p:sp>
      <p:cxnSp>
        <p:nvCxnSpPr>
          <p:cNvPr id="670" name=""/>
          <p:cNvCxnSpPr/>
          <p:nvPr/>
        </p:nvCxnSpPr>
        <p:spPr>
          <a:xfrm xmlns:a="http://schemas.openxmlformats.org/drawingml/2006/main">
            <a:off x="4505325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KEEPS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Context · SSOT ·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加速執行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/ synthesis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Implementation / TDD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Review / verification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Subagents / automation</a:t>
            </a:r>
          </a:p>
        </p:txBody>
      </p:sp>
      <p:cxnSp>
        <p:nvCxnSpPr>
          <p:cNvPr id="678" name=""/>
          <p:cNvCxnSpPr/>
          <p:nvPr/>
        </p:nvCxnSpPr>
        <p:spPr>
          <a:xfrm xmlns:a="http://schemas.openxmlformats.org/drawingml/2006/main">
            <a:off x="838200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36404-A14D-4C18-A696-0256E9D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ACCELERATES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EE82-16AE-4E5F-95FD-6B69D0E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Speed · scale · feedback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TAKEAWAY · AI models 會一直變；human accountability、SSOT、evidence 與 approval 必須持久。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新工作先回答六題；執行中只更新 Stage 與 Next Move</a:t>
            </a:r>
          </a:p>
        </p:txBody>
      </p:sp>
      <p:cxnSp>
        <p:nvCxnSpPr>
          <p:cNvPr id="812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WHEN TO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開始新工作：六題全答　|　執行中：更新 Stage · Next Move　|　Context 改變：六題重答</a:t>
            </a:r>
          </a:p>
        </p:txBody>
      </p:sp>
      <p:cxnSp>
        <p:nvCxnSpPr>
          <p:cNvPr id="817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818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819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820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Understand · Explore · Define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System Design* · Feature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P1→P0 · P0→tasks JIT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TDD · bounded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Review · fresh evidence</a:t>
            </a:r>
          </a:p>
        </p:txBody>
      </p:sp>
      <p:cxnSp>
        <p:nvCxnSpPr>
          <p:cNvPr id="841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Release &amp; Operate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Observe · Recover · 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* System Design：P3/P2 required · P1 risk-triggered · P0 normally skip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681F009-2D4D-411A-ACC3-F353D17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P3–P0 只決定深度；以下用 P1 Feature 示範</a:t>
            </a:r>
          </a:p>
        </p:txBody>
      </p:sp>
      <p:cxnSp>
        <p:nvCxnSpPr>
          <p:cNvPr id="190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87AA-F0B0-42A1-8454-A277459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cxnSp>
        <p:nvCxnSpPr>
          <p:cNvPr id="192" name=""/>
          <p:cNvCxnSpPr/>
          <p:nvPr/>
        </p:nvCxnSpPr>
        <p:spPr>
          <a:xfrm xmlns:a="http://schemas.openxmlformats.org/drawingml/2006/main">
            <a:off x="1647825" y="23526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93" name=""/>
          <p:cNvCxnSpPr/>
          <p:nvPr/>
        </p:nvCxnSpPr>
        <p:spPr>
          <a:xfrm xmlns:a="http://schemas.openxmlformats.org/drawingml/2006/main">
            <a:off x="1647825" y="33242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94" name=""/>
          <p:cNvCxnSpPr/>
          <p:nvPr/>
        </p:nvCxnSpPr>
        <p:spPr>
          <a:xfrm xmlns:a="http://schemas.openxmlformats.org/drawingml/2006/main">
            <a:off x="1647825" y="42957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C1FCB-CCB7-4425-864C-C683484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459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3E688-AC70-470C-9439-01BE3F3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5485-C9DB-40C6-BD35-E428A47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Product /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E2560-5DB8-4A86-9EDD-645E8B3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7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方向、architecture、Epic / Wave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09FE0-09C1-4312-A78A-6FB918D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436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1BF3-C854-4B93-BAD1-9FA1462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1B747-7C20-4D67-849E-E93A7E6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91CC-668F-4960-BE13-C10AF9E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跨 Feature capability、System Design、Feature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CC2CB-4B9C-40EE-94B8-2225C90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133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D4B2D-5353-4B7D-9D80-152FEBE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A8C38-662B-4DE9-B41F-67E4F87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5780-B63C-4593-9FEE-FD9149C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本 deck example：approved outcome → P0 slices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B42A5-5BE1-46A9-A584-D6CE98D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91BD1-D2C3-441D-AF6A-F3E8DBE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F14D5-824C-4329-B7D2-2AB2BC81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PBI / User 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1949-8076-4CAF-AFF2-42C1CBF1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8632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Sprint-ready tracer bullet、independent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A1089-EC1C-41FF-A5B8-F9B0BCB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1CFE6-E3B3-4238-A617-B6916B7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Execution Layer  ·  Task / Plan Step /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8382-AF37-4B9A-8EA8-5EE3F5E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90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判斷規則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DB2BA-1C5B-4FF2-A15C-3D18420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75C58-7262-4E6A-A705-16F8828B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1BEAB-9602-4960-961A-E385A00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09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是可整體驗收 / release / control 的 Feature outcome。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DAFC5-3A0E-44D4-A2D8-557BF9F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8607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8B9F9-1F1D-4D68-896A-999622E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38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1B089-2C43-4024-BE34-F5E4699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00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的 Plan 不是 files / tasks；先切成 P0 vertical slices。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6AA9F-24E8-43DA-9BD8-95D444F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F20EC-C9B2-4F62-A464-6E8E4C2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29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39E55-C12B-4D1C-89E7-505AFA7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90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是 Sprint-ready、narrow but complete、可獨立驗證。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1DBAF-622D-447B-B183-6D5AD30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672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9943C-1971-4DFF-91FB-57AF91E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5DA8F-0A42-4796-A9B3-E203EEA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81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Task / Plan Step / Commit 位於 P0 下方，不是 Work Level。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418BEC-328C-4D73-AC98-B6E35FF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67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接下來全部用 P1 Feature 示範一條具體 Golden Path。</a:t>
            </a:r>
          </a:p>
        </p:txBody>
      </p:sp>
    </p:spTree>
    <p:extLst>
      <p:ext uri="{BB962C8B-B14F-4D97-AF65-F5344CB8AC3E}">
        <p14:creationId xmlns:p14="http://schemas.microsoft.com/office/powerpoint/2010/main" val="1962828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4B90C45-1B97-45CC-9A3D-9C69B8F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開始實作前，只選一條路：Fast 或 Durable</a:t>
            </a:r>
          </a:p>
        </p:txBody>
      </p:sp>
      <p:cxnSp>
        <p:nvCxnSpPr>
          <p:cNvPr id="203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8BDE-FF90-43B1-9EAE-F6FF6BB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cxnSp>
        <p:nvCxnSpPr>
          <p:cNvPr id="205" name=""/>
          <p:cNvCxnSpPr/>
          <p:nvPr/>
        </p:nvCxnSpPr>
        <p:spPr>
          <a:xfrm xmlns:a="http://schemas.openxmlformats.org/drawingml/2006/main">
            <a:off x="24955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206" name=""/>
          <p:cNvCxnSpPr/>
          <p:nvPr/>
        </p:nvCxnSpPr>
        <p:spPr>
          <a:xfrm xmlns:a="http://schemas.openxmlformats.org/drawingml/2006/main">
            <a:off x="46672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207" name=""/>
          <p:cNvCxnSpPr/>
          <p:nvPr/>
        </p:nvCxnSpPr>
        <p:spPr>
          <a:xfrm xmlns:a="http://schemas.openxmlformats.org/drawingml/2006/main">
            <a:off x="75247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208" name=""/>
          <p:cNvCxnSpPr/>
          <p:nvPr/>
        </p:nvCxnSpPr>
        <p:spPr>
          <a:xfrm xmlns:a="http://schemas.openxmlformats.org/drawingml/2006/main">
            <a:off x="96964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91A2A-FA1F-481B-9331-3A7D4DD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19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7BBD5-D394-43DF-BBEF-6FDD84CD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Approved P1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36225-876D-4706-AA79-E9EB426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905A7-5BA4-4B65-8363-257973F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EA47F-27B4-4826-BFA9-6F6E87C5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596F8-4758-4B64-95BB-FDA2B10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tracer bullets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+ Blocked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81A72-E61C-440E-BF33-F7BB4B9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F0A8-2EA8-4843-9F4A-CBCBF6A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Choose route
Fast / Durable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3E6ED-2864-4100-AF6E-6A01596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F4AC5-C8E6-4519-8ACA-392E239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Reviewable change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tests ·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79FFA-A9FD-46CD-8371-6DAAB4D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471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0ECAD-5FB6-4D2F-ADB4-E3097CB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452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FAST DELIVERY｜需求明確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04B21-ADC8-456A-A4CC-BE2AEF1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Superpowers 端到端：
writing-plans*（需要時）→ TDD →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00D71-64BE-433D-A527-5A77EE5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67125"/>
            <a:ext cx="549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6253A-0FBE-41D8-B68B-FE70C40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24275"/>
            <a:ext cx="530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DURABLE CHANGE｜需要 durable spec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798D3-2490-4362-A382-630EEF8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5495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OpenSpec tasks.md 是唯一 ledger：
/opsx:apply → Superpowers per-task TDD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E9A72-0810-4300-A8C9-4A372AB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8893E-C6C7-477B-87BC-4F367A6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530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粗 task 就地展開：1.2 → 1.2.1 / 1.2.2 / 1.2.3　｜　只長子項 = JIT；改變做法 = /opsx:update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FB789-785E-4489-8B02-0F4E120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同一 change 只保留一本 ledger；Durable 不使用 writing-plans，也不建立第二份 plan。</a:t>
            </a:r>
          </a:p>
        </p:txBody>
      </p:sp>
    </p:spTree>
    <p:extLst>
      <p:ext uri="{BB962C8B-B14F-4D97-AF65-F5344CB8AC3E}">
        <p14:creationId xmlns:p14="http://schemas.microsoft.com/office/powerpoint/2010/main" val="90937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工程師只要記住：一張 Feature，沿 Golden Flow 走到底</a:t>
            </a:r>
          </a:p>
        </p:txBody>
      </p:sp>
      <p:cxnSp>
        <p:nvCxnSpPr>
          <p:cNvPr id="65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 · 把問題弄對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問：change boundary / FR / NFR？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用：read-only codebase research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brainstorming / grill-me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留：approved Feature Design</a:t>
            </a:r>
          </a:p>
        </p:txBody>
      </p:sp>
      <p:cxnSp>
        <p:nvCxnSpPr>
          <p:cNvPr id="662" name=""/>
          <p:cNvCxnSpPr/>
          <p:nvPr/>
        </p:nvCxnSpPr>
        <p:spPr>
          <a:xfrm xmlns:a="http://schemas.openxmlformats.org/drawingml/2006/main">
            <a:off x="62865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Understanding + Change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 · 把交付切小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 → Implement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 → P0 vertical slices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Fast｜Superpowers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writing-plans* → TDD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Durable｜OpenSpec tasks.md
/opsx:apply → Superpowers TDD
一本 ledger、可 review</a:t>
            </a:r>
          </a:p>
        </p:txBody>
      </p:sp>
      <p:cxnSp>
        <p:nvCxnSpPr>
          <p:cNvPr id="670" name=""/>
          <p:cNvCxnSpPr/>
          <p:nvPr/>
        </p:nvCxnSpPr>
        <p:spPr>
          <a:xfrm xmlns:a="http://schemas.openxmlformats.org/drawingml/2006/main">
            <a:off x="4505325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P0 acceptance +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 · 用證據完成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 →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Review actual diff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Verify acceptance + affected risk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Prepare rollback / observe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Hand off to existing release / E3</a:t>
            </a:r>
          </a:p>
        </p:txBody>
      </p:sp>
      <p:cxnSp>
        <p:nvCxnSpPr>
          <p:cNvPr id="678" name=""/>
          <p:cNvCxnSpPr/>
          <p:nvPr/>
        </p:nvCxnSpPr>
        <p:spPr>
          <a:xfrm xmlns:a="http://schemas.openxmlformats.org/drawingml/2006/main">
            <a:off x="838200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36404-A14D-4C18-A696-0256E9D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EE82-16AE-4E5F-95FD-6B69D0E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Evidence Gate + release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TAKEAWAY · Golden Flow 決定下一步；default capability 決定怎麼做；risk 只改變 rigor，不改變路徑。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Engineering：Design / Implement 各 1.5 週，總時間 8 → 6 週</a:t>
            </a:r>
          </a:p>
        </p:txBody>
      </p:sp>
      <p:cxnSp>
        <p:nvCxnSpPr>
          <p:cNvPr id="237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COLLABORATION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↑ Shared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documented decisions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shared evidence ·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AS-IS · 8 WEEKS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4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single-repo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unclear FR/NFR · thin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LEAD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8 → 6 wk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faster implementation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fewer rework loops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>AI · 6 WEEKS · -25%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≈ 3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system-wide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explicit design · TDD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CHANGE FAILURE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↓ Lower 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design · code · test quality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release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Human judgment × AI execution 才是 productivity leverage；8 → 6 weeks 僅為 illustrative target，仍以 pilots 校準。</a:t>
            </a:r>
          </a:p>
        </p:txBody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3407c32f94a9e"/>
          <a:srcRect xmlns:a="http://schemas.openxmlformats.org/drawingml/2006/main" l="125" t="0" r="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8558" y="1476375"/>
            <a:ext cx="8741833" cy="2809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B983216B-B198-4B14-A0A9-6CF04FB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rPr>
              <a:t>START WITH A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7F9D-C209-4CBC-B9DD-AB7A7D1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明天從一張 P1 Feature 開始：六個問題全部回答</a:t>
            </a:r>
          </a:p>
        </p:txBody>
      </p:sp>
      <p:cxnSp>
        <p:nvCxnSpPr>
          <p:cNvPr id="539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5A72-5745-4C7E-B098-7D5AF62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D55B-C19C-4B6C-A349-C2B0CC0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 FEATURE · 60-SECOND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A5C1-B68D-47AD-9009-56B9A69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D2C76-2802-408E-A12C-7AF0629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工作位置？ existing activity / system of record</a:t>
            </a:r>
          </a:p>
        </p:txBody>
      </p:sp>
      <p:cxnSp>
        <p:nvCxnSpPr>
          <p:cNvPr id="544" name=""/>
          <p:cNvCxnSpPr/>
          <p:nvPr/>
        </p:nvCxnSpPr>
        <p:spPr>
          <a:xfrm xmlns:a="http://schemas.openxmlformats.org/drawingml/2006/main">
            <a:off x="914400" y="24098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124EC-0E88-44EC-AC94-B26B74D9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F5DA1-1519-47AD-90FB-8482D8A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Work Level？ P3 / P2 / P1 / P0</a:t>
            </a:r>
          </a:p>
        </p:txBody>
      </p:sp>
      <p:cxnSp>
        <p:nvCxnSpPr>
          <p:cNvPr id="547" name=""/>
          <p:cNvCxnSpPr/>
          <p:nvPr/>
        </p:nvCxnSpPr>
        <p:spPr>
          <a:xfrm xmlns:a="http://schemas.openxmlformats.org/drawingml/2006/main">
            <a:off x="914400" y="30480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BB758-A06A-43D7-9FEF-1CB8A55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F88E-9677-4CEA-A527-08C99AF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Archetype？ Greenfield / Modernization / Standard</a:t>
            </a:r>
          </a:p>
        </p:txBody>
      </p:sp>
      <p:cxnSp>
        <p:nvCxnSpPr>
          <p:cNvPr id="550" name=""/>
          <p:cNvCxnSpPr/>
          <p:nvPr/>
        </p:nvCxnSpPr>
        <p:spPr>
          <a:xfrm xmlns:a="http://schemas.openxmlformats.org/drawingml/2006/main">
            <a:off x="914400" y="36861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046E0-440B-4A81-BCA5-60A57B4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5CA2-2FA4-404B-BA2C-02ADAD9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Current Stage？ 第一個還不能可靠回答的問題</a:t>
            </a:r>
          </a:p>
        </p:txBody>
      </p:sp>
      <p:cxnSp>
        <p:nvCxnSpPr>
          <p:cNvPr id="553" name=""/>
          <p:cNvCxnSpPr/>
          <p:nvPr/>
        </p:nvCxnSpPr>
        <p:spPr>
          <a:xfrm xmlns:a="http://schemas.openxmlformats.org/drawingml/2006/main">
            <a:off x="914400" y="43243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831D7-138A-4BDC-8FF6-427E0BD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8BE8E-3438-4E8C-A119-4C66F17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Control Profile？ criticality / risk / AI authority</a:t>
            </a:r>
          </a:p>
        </p:txBody>
      </p:sp>
      <p:cxnSp>
        <p:nvCxnSpPr>
          <p:cNvPr id="556" name=""/>
          <p:cNvCxnSpPr/>
          <p:nvPr/>
        </p:nvCxnSpPr>
        <p:spPr>
          <a:xfrm xmlns:a="http://schemas.openxmlformats.org/drawingml/2006/main">
            <a:off x="914400" y="49625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E04C2-D91B-4AD5-B9DE-9CC1B22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WHAT CHANGES TOMORROW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E7B23-8F86-406C-8D93-CA04322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812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3C903-718C-4B4C-A936-43382A1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Engineer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B1E74-661F-488A-94AB-FEEFD207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Use active defaults；candidate skill 不阻塞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CCEE7-B911-4EAC-B337-FD38145F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1465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EF652-3839-44D2-AAE3-2E1E6287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Tech Lead / Architect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380E2-ABA0-4A44-B641-2461032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Approve design、equivalent skills 與 gate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0D183-62FB-4E1B-BD16-2F5F80E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CEC29-8CA1-4ECE-86E5-A766F74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0A761-77A8-4094-90A6-6F9AE98E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Integrate existing workflow；remove blockers；review outcomes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F1388-212A-4E0D-9FF4-9BE8C38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72050"/>
            <a:ext cx="5114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51B0D-141E-4FF1-91D9-124435B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53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TEAM ADAPTER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BF877-E486-4CA7-B87E-4321FF11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57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Map local activity → Golden Stage / Gate / artifact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Department：minimum contract + defaults · Team：approved equivalents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AA94C-EF1D-441A-911C-3E17E1E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AI 執行更多；Engineer 仍負責六題、design trade-off、evidence 與 approval。執行中更新 Stage／Next Move。</a:t>
            </a:r>
          </a:p>
        </p:txBody>
      </p:sp>
      <p:sp>
        <p:nvSpPr>
          <p:cNvPr id="255" name="six-question-6-number">
            <a:extLst xmlns:a="http://schemas.openxmlformats.org/drawingml/2006/main">
              <a:ext uri="{FF2B5EF4-FFF2-40B4-BE49-F238E27FC236}">
                <a16:creationId xmlns:a16="http://schemas.microsoft.com/office/drawing/2014/main" id="{C49DD5BE-0086-4E18-9DBE-6A238C7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56" name="six-question-6-text">
            <a:extLst xmlns:a="http://schemas.openxmlformats.org/drawingml/2006/main">
              <a:ext uri="{FF2B5EF4-FFF2-40B4-BE49-F238E27FC236}">
                <a16:creationId xmlns:a16="http://schemas.microsoft.com/office/drawing/2014/main" id="{E784FF07-403A-4FFD-8F21-6F58BD0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Next Move？ capability → evidence → Gate</a:t>
            </a:r>
          </a:p>
        </p:txBody>
      </p:sp>
    </p:spTree>
    <p:extLst>
      <p:ext uri="{BB962C8B-B14F-4D97-AF65-F5344CB8AC3E}">
        <p14:creationId xmlns:p14="http://schemas.microsoft.com/office/powerpoint/2010/main" val="1783262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2026-07-19T23:03:40.2130000Z</dcterms:created>
  <dcterms:modified xsi:type="dcterms:W3CDTF">2026-07-19T23:03:40.2130000Z</dcterms:modified>
</coreProperties>
</file>
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5f46c63ea849cd" /><Relationship Type="http://schemas.openxmlformats.org/officeDocument/2006/relationships/extended-properties" Target="/docProps/app.xml" Id="Rd52c9b03982d46d8" /><Relationship Type="http://schemas.openxmlformats.org/officeDocument/2006/relationships/officeDocument" Target="/ppt/presentation.xml" Id="R1120d477b3194d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11b2883c543a1"/>
  </p:sldMasterIdLst>
  <p:notesMasterIdLst>
    <p:notesMasterId xmlns:r="http://schemas.openxmlformats.org/officeDocument/2006/relationships" r:id="R0bdede255d0d41fe"/>
  </p:notesMasterIdLst>
  <p:sldIdLst>
    <p:sldId xmlns:r="http://schemas.openxmlformats.org/officeDocument/2006/relationships" id="256" r:id="R733ef41fa4404001"/>
    <p:sldId xmlns:r="http://schemas.openxmlformats.org/officeDocument/2006/relationships" id="257" r:id="R2be5b65a21e545cd"/>
    <p:sldId xmlns:r="http://schemas.openxmlformats.org/officeDocument/2006/relationships" id="258" r:id="R3cc4e31d8f1d4a2a"/>
    <p:sldId xmlns:r="http://schemas.openxmlformats.org/officeDocument/2006/relationships" id="259" r:id="R707bc14dbfe74484"/>
    <p:sldId xmlns:r="http://schemas.openxmlformats.org/officeDocument/2006/relationships" id="260" r:id="R31173374ac564e81"/>
    <p:sldId xmlns:r="http://schemas.openxmlformats.org/officeDocument/2006/relationships" id="261" r:id="R33e8991991fe4bdb"/>
    <p:sldId xmlns:r="http://schemas.openxmlformats.org/officeDocument/2006/relationships" id="262" r:id="R0de6f4e7910b4d79"/>
    <p:sldId xmlns:r="http://schemas.openxmlformats.org/officeDocument/2006/relationships" id="263" r:id="R58a9bbb3d9c2441c"/>
    <p:sldId xmlns:r="http://schemas.openxmlformats.org/officeDocument/2006/relationships" id="264" r:id="R68fff6eaa1254b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3179f8e7644c25" /><Relationship Type="http://schemas.openxmlformats.org/officeDocument/2006/relationships/slideMaster" Target="/ppt/slideMasters/slideMaster1.xml" Id="R19011b2883c543a1" /><Relationship Type="http://schemas.openxmlformats.org/officeDocument/2006/relationships/notesMaster" Target="/ppt/notesMasters/notesMaster1.xml" Id="R0bdede255d0d41fe" /><Relationship Type="http://schemas.openxmlformats.org/officeDocument/2006/relationships/presProps" Target="/ppt/presProps.xml" Id="Ra15be521383c402f" /><Relationship Type="http://schemas.openxmlformats.org/officeDocument/2006/relationships/tableStyles" Target="/ppt/tableStyles.xml" Id="Rf1229b9a27364a11" /><Relationship Type="http://schemas.openxmlformats.org/officeDocument/2006/relationships/slide" Target="/ppt/slides/slide1.xml" Id="R733ef41fa4404001" /><Relationship Type="http://schemas.openxmlformats.org/officeDocument/2006/relationships/slide" Target="/ppt/slides/slide2.xml" Id="R2be5b65a21e545cd" /><Relationship Type="http://schemas.openxmlformats.org/officeDocument/2006/relationships/slide" Target="/ppt/slides/slide3.xml" Id="R3cc4e31d8f1d4a2a" /><Relationship Type="http://schemas.openxmlformats.org/officeDocument/2006/relationships/slide" Target="/ppt/slides/slide4.xml" Id="R707bc14dbfe74484" /><Relationship Type="http://schemas.openxmlformats.org/officeDocument/2006/relationships/slide" Target="/ppt/slides/slide5.xml" Id="R31173374ac564e81" /><Relationship Type="http://schemas.openxmlformats.org/officeDocument/2006/relationships/slide" Target="/ppt/slides/slide6.xml" Id="R33e8991991fe4bdb" /><Relationship Type="http://schemas.openxmlformats.org/officeDocument/2006/relationships/slide" Target="/ppt/slides/slide7.xml" Id="R0de6f4e7910b4d79" /><Relationship Type="http://schemas.openxmlformats.org/officeDocument/2006/relationships/slide" Target="/ppt/slides/slide8.xml" Id="R58a9bbb3d9c2441c" /><Relationship Type="http://schemas.openxmlformats.org/officeDocument/2006/relationships/slide" Target="/ppt/slides/slide9.xml" Id="R68fff6eaa1254b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245fc275e447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ba61f2b1e84822" /><Relationship Type="http://schemas.openxmlformats.org/officeDocument/2006/relationships/notesMaster" Target="/ppt/notesMasters/notesMaster1.xml" Id="R1cfc1d612f3d47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2c171131dd4acd" /><Relationship Type="http://schemas.openxmlformats.org/officeDocument/2006/relationships/notesMaster" Target="/ppt/notesMasters/notesMaster1.xml" Id="Re5ab3a03fd194b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08fab6d35d4697" /><Relationship Type="http://schemas.openxmlformats.org/officeDocument/2006/relationships/notesMaster" Target="/ppt/notesMasters/notesMaster1.xml" Id="Rf679ffa4806a46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672ffcd96b4dee" /><Relationship Type="http://schemas.openxmlformats.org/officeDocument/2006/relationships/notesMaster" Target="/ppt/notesMasters/notesMaster1.xml" Id="R12dc6c78655349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04a685076a48cc" /><Relationship Type="http://schemas.openxmlformats.org/officeDocument/2006/relationships/notesMaster" Target="/ppt/notesMasters/notesMaster1.xml" Id="Ra1e94e2031f84b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f8a0df2e094dfd" /><Relationship Type="http://schemas.openxmlformats.org/officeDocument/2006/relationships/notesMaster" Target="/ppt/notesMasters/notesMaster1.xml" Id="R20b83d755489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561cda52d341d9" /><Relationship Type="http://schemas.openxmlformats.org/officeDocument/2006/relationships/notesMaster" Target="/ppt/notesMasters/notesMaster1.xml" Id="R8f06af494e9e47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415810a0634c61" /><Relationship Type="http://schemas.openxmlformats.org/officeDocument/2006/relationships/notesMaster" Target="/ppt/notesMasters/notesMaster1.xml" Id="R71769c324c7e44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260ecc29804d20" /><Relationship Type="http://schemas.openxmlformats.org/officeDocument/2006/relationships/notesMaster" Target="/ppt/notesMasters/notesMaster1.xml" Id="Re711638099d847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0d96cedb943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b5767865814830" /><Relationship Type="http://schemas.openxmlformats.org/officeDocument/2006/relationships/slideLayout" Target="/ppt/slideLayouts/slideLayout1.xml" Id="Rfee0c6976e4240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e0c6976e4240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95e09ca364482" /><Relationship Type="http://schemas.openxmlformats.org/officeDocument/2006/relationships/notesSlide" Target="/ppt/notesSlides/notesSlide1.xml" Id="R1614992053cb40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50af964444099" /><Relationship Type="http://schemas.openxmlformats.org/officeDocument/2006/relationships/image" Target="/ppt/media/image.png" Id="R523220eadc6f457c" /><Relationship Type="http://schemas.openxmlformats.org/officeDocument/2006/relationships/image" Target="/ppt/media/image2.png" Id="R1e59549d5a4f47f6" /><Relationship Type="http://schemas.openxmlformats.org/officeDocument/2006/relationships/image" Target="/ppt/media/image3.png" Id="R52238783cf894bae" /><Relationship Type="http://schemas.openxmlformats.org/officeDocument/2006/relationships/notesSlide" Target="/ppt/notesSlides/notesSlide2.xml" Id="Rf93adaddd0c443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3488a399b4a6f" /><Relationship Type="http://schemas.openxmlformats.org/officeDocument/2006/relationships/notesSlide" Target="/ppt/notesSlides/notesSlide3.xml" Id="Rd780eec9f9d942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e4b806a384018" /><Relationship Type="http://schemas.openxmlformats.org/officeDocument/2006/relationships/notesSlide" Target="/ppt/notesSlides/notesSlide4.xml" Id="R9e9f0e1ce2d14c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0a76a261043d4" /><Relationship Type="http://schemas.openxmlformats.org/officeDocument/2006/relationships/notesSlide" Target="/ppt/notesSlides/notesSlide5.xml" Id="R0aa845c6beb544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207dd34b44d7d" /><Relationship Type="http://schemas.openxmlformats.org/officeDocument/2006/relationships/notesSlide" Target="/ppt/notesSlides/notesSlide6.xml" Id="Rb88471f2ad584f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bb7da61774cf4" /><Relationship Type="http://schemas.openxmlformats.org/officeDocument/2006/relationships/notesSlide" Target="/ppt/notesSlides/notesSlide7.xml" Id="Re9851b29899e43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93cb574d4b4d24" /><Relationship Type="http://schemas.openxmlformats.org/officeDocument/2006/relationships/image" Target="/ppt/media/image.png" Id="Rf54aa3f1c3b14cc7" /><Relationship Type="http://schemas.openxmlformats.org/officeDocument/2006/relationships/notesSlide" Target="/ppt/notesSlides/notesSlide8.xml" Id="R161c0cb71f2244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435e140484290" /><Relationship Type="http://schemas.openxmlformats.org/officeDocument/2006/relationships/notesSlide" Target="/ppt/notesSlides/notesSlide9.xml" Id="R684bd4e07ad540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F5248-8460-49F9-A402-0E7EE89D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DEPARTMENT TRAINING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7C63B-6AA5-4803-9912-AE2D098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AI-Native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4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Software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726526-EC51-43C0-AAB8-E0B281F9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5619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6BDAC-5866-4227-97F1-62F08BDA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23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Golden Playbook for faster, safer, evidence-based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6D2A39-69C3-4B1E-8AC4-4D07FD4B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 → Plan → Implement → Validate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E0F0C-38D6-49C8-A983-E9D00689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2103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00" b="0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v1.16 Baseline Candidate</a:t>
            </a:r>
          </a:p>
        </p:txBody>
      </p:sp>
    </p:spTree>
    <p:extLst>
      <p:ext uri="{BB962C8B-B14F-4D97-AF65-F5344CB8AC3E}">
        <p14:creationId xmlns:p14="http://schemas.microsoft.com/office/powerpoint/2010/main" val="14511272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只有 Vibe Coding 不夠：我們要解的兩個工程問題</a:t>
            </a:r>
          </a:p>
        </p:txBody>
      </p:sp>
      <p:cxnSp>
        <p:nvCxnSpPr>
          <p:cNvPr id="271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不同大小的工作，需要不同深度的 AI development workflow。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381125"/>
            <a:ext cx="542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PROBLEM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09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Coding 變得又快又便宜；前面想錯，bad code 與技術債也會更快放大。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/>
            </a:r>
          </a:p>
        </p:txBody>
      </p:sp>
      <p:pic>
        <p:nvPicPr>
          <p:cNvPr id="2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220eadc6f457c"/>
          <a:stretch xmlns:a="http://schemas.openxmlformats.org/drawingml/2006/main"/>
        </p:blipFill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9549d5a4f47f6"/>
          <a:stretch xmlns:a="http://schemas.openxmlformats.org/drawingml/2006/main"/>
        </p:blipFill>
        <p:spPr>
          <a:xfrm xmlns:a="http://schemas.openxmlformats.org/drawingml/2006/main">
            <a:off x="590550" y="2764875"/>
            <a:ext cx="5048250" cy="2471249"/>
          </a:xfrm>
          <a:prstGeom xmlns:a="http://schemas.openxmlformats.org/drawingml/2006/main" prst="rect">
            <a:avLst/>
          </a:prstGeom>
        </p:spPr>
      </p:pic>
      <p:pic>
        <p:nvPicPr>
          <p:cNvPr id="2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38783cf894bae"/>
          <a:stretch xmlns:a="http://schemas.openxmlformats.org/drawingml/2006/main"/>
        </p:blipFill>
        <p:spPr>
          <a:xfrm xmlns:a="http://schemas.openxmlformats.org/drawingml/2006/main">
            <a:off x="6419850" y="2725632"/>
            <a:ext cx="5048250" cy="2549736"/>
          </a:xfrm>
          <a:prstGeom xmlns:a="http://schemas.openxmlformats.org/drawingml/2006/main" prst="rect">
            <a:avLst/>
          </a:prstGeom>
        </p:spPr>
      </p:pic>
      <p:sp>
        <p:nvSpPr>
          <p:cNvPr id="244" name="Human leverage note">
            <a:extLst xmlns:a="http://schemas.openxmlformats.org/drawingml/2006/main">
              <a:ext uri="{FF2B5EF4-FFF2-40B4-BE49-F238E27FC236}">
                <a16:creationId xmlns:a16="http://schemas.microsoft.com/office/drawing/2014/main" id="{3BCC93CE-0A5A-48A8-AD30-34F73E3A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579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AI 先自動化 coding；software engineering 的價值移向問題定義、設計判斷與責任。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執行愈多，工程責任愈需要清楚分工</a:t>
            </a:r>
          </a:p>
        </p:txBody>
      </p:sp>
      <p:cxnSp>
        <p:nvCxnSpPr>
          <p:cNvPr id="730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HUMAN JUDGMENT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人決定方向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定義問題與 outcome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做 design trade-off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決定 scope / risk / approval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對結果負責</a:t>
            </a:r>
          </a:p>
        </p:txBody>
      </p:sp>
      <p:cxnSp>
        <p:nvCxnSpPr>
          <p:cNvPr id="737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OWNS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Intent · design ·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DURABLE 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流程保存共識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Golden Flow：決定下一步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OpenSpec：durable agreement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Superpowers：engineering discipline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CI / PR：evidence trail</a:t>
            </a:r>
          </a:p>
        </p:txBody>
      </p:sp>
      <p:cxnSp>
        <p:nvCxnSpPr>
          <p:cNvPr id="745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KEEPS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Context · SSOT ·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 EXECUTION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加速執行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/ synthesis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Implementation / TDD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 / verification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Subagents / automation</a:t>
            </a:r>
          </a:p>
        </p:txBody>
      </p:sp>
      <p:cxnSp>
        <p:nvCxnSpPr>
          <p:cNvPr id="753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ACCELERATES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Speed · scale · feedback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TAKEAWAY · AI models 會一直變；human accountability、SSOT、evidence 與 approval 必須持久。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4" name="">
            <a:extLst xmlns:a="http://schemas.openxmlformats.org/drawingml/2006/main">
              <a:ext uri="{FF2B5EF4-FFF2-40B4-BE49-F238E27FC236}">
                <a16:creationId xmlns:a16="http://schemas.microsoft.com/office/drawing/2014/main" id="{82D91BCB-78E4-48DE-AB3E-3192C385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Six Questions → Current Stage → Stage-Internal Skills</a:t>
            </a:r>
          </a:p>
        </p:txBody>
      </p:sp>
      <p:cxnSp>
        <p:nvCxnSpPr>
          <p:cNvPr id="905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5FA3-39F3-4294-8E7A-93466669F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29F-86B2-4BF0-8F7C-EEEBD0E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E358-0078-410C-9F81-89BCE37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HOW TO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7B60E-7A92-4B04-AB0E-2E2019BF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573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Initial: Six Questions　|　Locate: Current Stage　|　Inside Stage: Capability · Skill · Output · Gate</a:t>
            </a:r>
          </a:p>
        </p:txBody>
      </p:sp>
      <p:cxnSp>
        <p:nvCxnSpPr>
          <p:cNvPr id="910" name=""/>
          <p:cNvCxnSpPr/>
          <p:nvPr/>
        </p:nvCxnSpPr>
        <p:spPr>
          <a:xfrm xmlns:a="http://schemas.openxmlformats.org/drawingml/2006/main">
            <a:off x="2190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911" name=""/>
          <p:cNvCxnSpPr/>
          <p:nvPr/>
        </p:nvCxnSpPr>
        <p:spPr>
          <a:xfrm xmlns:a="http://schemas.openxmlformats.org/drawingml/2006/main">
            <a:off x="4476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912" name=""/>
          <p:cNvCxnSpPr/>
          <p:nvPr/>
        </p:nvCxnSpPr>
        <p:spPr>
          <a:xfrm xmlns:a="http://schemas.openxmlformats.org/drawingml/2006/main">
            <a:off x="6762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913" name=""/>
          <p:cNvCxnSpPr/>
          <p:nvPr/>
        </p:nvCxnSpPr>
        <p:spPr>
          <a:xfrm xmlns:a="http://schemas.openxmlformats.org/drawingml/2006/main">
            <a:off x="9048750" y="333375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358F-E088-428A-B623-2FBF6E55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8B0859-CF74-45AC-AFD7-BD111C8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1B6FF-1833-439F-96BC-617A9A08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60667-E9B8-4E21-9DB8-6508741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Understand · Explore · Define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4A4D7-EF87-46F2-8EC4-41EFAD2D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FAAF-F5C6-4501-AC14-23FEB13A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84C97B-95D7-412C-8A35-EB23D475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Design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87A97-2730-4256-A4F9-8FB19B7F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System Design* · Feature 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5B2F2-4EA5-4B3B-B9BD-52E53AA9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DB9E7-C060-41E7-A080-BE7088D4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982BA4-2011-4057-917D-C12E55C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AE2E6-D809-4519-87BC-D640C505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Delivery outcomes · implementation tasks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2EEDE-92F8-4110-AC0D-88768D9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44BAB-191C-4921-ADD4-E5AEC486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3E68D6-5720-449B-B45F-C9C1FA9E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623CAE-065D-4B9B-AC43-4A041DCD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TDD · bounded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42A8C1-FBF5-4915-B9DE-02CA8C8D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38425"/>
            <a:ext cx="18859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49B17-7F99-4567-ACF7-0B63D882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00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9DD13C-9242-4308-A97E-AF0E92C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71825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901030-E5E2-44EF-B20F-A4855CE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04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Review · fresh evidence</a:t>
            </a:r>
          </a:p>
        </p:txBody>
      </p:sp>
      <p:cxnSp>
        <p:nvCxnSpPr>
          <p:cNvPr id="934" name=""/>
          <p:cNvCxnSpPr/>
          <p:nvPr/>
        </p:nvCxnSpPr>
        <p:spPr>
          <a:xfrm xmlns:a="http://schemas.openxmlformats.org/drawingml/2006/main">
            <a:off x="10487025" y="42672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076C5B-26B1-4CFF-8876-A40E9EA9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38700"/>
            <a:ext cx="4171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D2EE01-7DD3-4D89-B931-BA839CE0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006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Release &amp; Operate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A5AEA1-A183-4F88-B87F-196210B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19675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Observe · Recover · 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3A2F-C0C8-494A-B190-E7457D7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* System Design：P3/P2 required · P1 risk-triggered · P0 normally skip</a:t>
            </a:r>
          </a:p>
        </p:txBody>
      </p:sp>
    </p:spTree>
    <p:extLst>
      <p:ext uri="{BB962C8B-B14F-4D97-AF65-F5344CB8AC3E}">
        <p14:creationId xmlns:p14="http://schemas.microsoft.com/office/powerpoint/2010/main" val="5936172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681F009-2D4D-411A-ACC3-F353D177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P3–P0 只決定深度；以下用 P1 Feature 示範</a:t>
            </a:r>
          </a:p>
        </p:txBody>
      </p:sp>
      <p:cxnSp>
        <p:nvCxnSpPr>
          <p:cNvPr id="208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87AA-F0B0-42A1-8454-A2774598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cxnSp>
        <p:nvCxnSpPr>
          <p:cNvPr id="210" name=""/>
          <p:cNvCxnSpPr/>
          <p:nvPr/>
        </p:nvCxnSpPr>
        <p:spPr>
          <a:xfrm xmlns:a="http://schemas.openxmlformats.org/drawingml/2006/main">
            <a:off x="1647825" y="23526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11" name=""/>
          <p:cNvCxnSpPr/>
          <p:nvPr/>
        </p:nvCxnSpPr>
        <p:spPr>
          <a:xfrm xmlns:a="http://schemas.openxmlformats.org/drawingml/2006/main">
            <a:off x="1647825" y="332422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212" name=""/>
          <p:cNvCxnSpPr/>
          <p:nvPr/>
        </p:nvCxnSpPr>
        <p:spPr>
          <a:xfrm xmlns:a="http://schemas.openxmlformats.org/drawingml/2006/main">
            <a:off x="1647825" y="42957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C1FCB-CCB7-4425-864C-C683484D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52575"/>
            <a:ext cx="4591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3E688-AC70-470C-9439-01BE3F3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B5485-C9DB-40C6-BD35-E428A477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95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4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Product / Program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E2560-5DB8-4A86-9EDD-645E8B3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9716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方向、architecture、Epic / Wave 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09FE0-09C1-4312-A78A-6FB918D5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24125"/>
            <a:ext cx="43624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F1BF3-C854-4B93-BAD1-9FA14623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31B747-7C20-4D67-849E-E93A7E65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67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Epic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91CC-668F-4960-BE13-C10AF9E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43225"/>
            <a:ext cx="3009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跨 Feature capability、System Design、Feature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6CC2CB-4B9C-40EE-94B8-2225C907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133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D4B2D-5353-4B7D-9D80-152FEBE7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A8C38-662B-4DE9-B41F-67E4F877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A5780-B63C-4593-9FEE-FD9149C9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14775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本 deck example：approved outcome → P0 slices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6B42A5-5BE1-46A9-A584-D6CE98DA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67225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91BD1-D2C3-441D-AF6A-F3E8DBE9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F14D5-824C-4329-B7D2-2AB2BC81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PBI / User 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51949-8076-4CAF-AFF2-42C1CBF1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86325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Sprint-ready tracer bullet、independent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A1089-EC1C-41FF-A5B8-F9B0BCB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114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1CFE6-E3B3-4238-A617-B6916B7F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29275"/>
            <a:ext cx="3762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Execution Layer  ·  Task / Plan Step / Commit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E48382-AF37-4B9A-8EA8-5EE3F5E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90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判斷規則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EDB2BA-1C5B-4FF2-A15C-3D18420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09550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75C58-7262-4E6A-A705-16F8828B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479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1BEAB-9602-4960-961A-E385A008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098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P1 是可整體驗收 / release / control 的 Feature outcome。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DAFC5-3A0E-44D4-A2D8-557BF9F8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8607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8B9F9-1F1D-4D68-896A-999622EA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384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41B089-2C43-4024-BE34-F5E46997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0003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Split only when needed; one slice = P0.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6AA9F-24E8-43DA-9BD8-95D444F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676650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8F20EC-C9B2-4F62-A464-6E8E4C2F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290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939E55-C12B-4D1C-89E7-505AFA7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是 Sprint-ready、narrow but complete、可獨立驗證。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1DBAF-622D-447B-B183-6D5AD300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67225"/>
            <a:ext cx="514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89943C-1971-4DFF-91FB-57AF91E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6196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75DA8F-0A42-4796-A9B3-E203EEA0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5815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Task / Plan Step / Commit 位於 P0 下方，不是 Work Level。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418BEC-328C-4D73-AC98-B6E35FF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4673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接下來全部用 P1 Feature 示範一條具體 Golden Path。</a:t>
            </a:r>
          </a:p>
        </p:txBody>
      </p:sp>
    </p:spTree>
    <p:extLst>
      <p:ext uri="{BB962C8B-B14F-4D97-AF65-F5344CB8AC3E}">
        <p14:creationId xmlns:p14="http://schemas.microsoft.com/office/powerpoint/2010/main" val="1962828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4B90C45-1B97-45CC-9A3D-9C69B8F8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 Stage · Delivery Outcomes ≠ Implementation Tasks</a:t>
            </a:r>
          </a:p>
        </p:txBody>
      </p:sp>
      <p:cxnSp>
        <p:nvCxnSpPr>
          <p:cNvPr id="224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8BDE-FF90-43B1-9EAE-F6FF6BBF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06</a:t>
            </a:r>
          </a:p>
        </p:txBody>
      </p:sp>
      <p:cxnSp>
        <p:nvCxnSpPr>
          <p:cNvPr id="226" name=""/>
          <p:cNvCxnSpPr/>
          <p:nvPr/>
        </p:nvCxnSpPr>
        <p:spPr>
          <a:xfrm xmlns:a="http://schemas.openxmlformats.org/drawingml/2006/main">
            <a:off x="24955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227" name=""/>
          <p:cNvCxnSpPr/>
          <p:nvPr/>
        </p:nvCxnSpPr>
        <p:spPr>
          <a:xfrm xmlns:a="http://schemas.openxmlformats.org/drawingml/2006/main">
            <a:off x="46672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228" name=""/>
          <p:cNvCxnSpPr/>
          <p:nvPr/>
        </p:nvCxnSpPr>
        <p:spPr>
          <a:xfrm xmlns:a="http://schemas.openxmlformats.org/drawingml/2006/main">
            <a:off x="75247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cxnSp>
        <p:nvCxnSpPr>
          <p:cNvPr id="229" name=""/>
          <p:cNvCxnSpPr/>
          <p:nvPr/>
        </p:nvCxnSpPr>
        <p:spPr>
          <a:xfrm xmlns:a="http://schemas.openxmlformats.org/drawingml/2006/main">
            <a:off x="9696450" y="25622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78E5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91A2A-FA1F-481B-9331-3A7D4DD0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19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7BBD5-D394-43DF-BBEF-6FDD84CD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33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Approved P1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Feature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36225-876D-4706-AA79-E9EB426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905A7-5BA4-4B65-8363-257973F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Multiple P0
outcomes?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EA47F-27B4-4826-BFA9-6F6E87C5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596F8-4758-4B64-95BB-FDA2B106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33625"/>
            <a:ext cx="2209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P0 outcome(s)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+ Blocked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81A72-E61C-440E-BF33-F7BB4B97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0F0A8-2EA8-4843-9F4A-CBCBF6AB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Implementation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breakdown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F3E6ED-2864-4100-AF6E-6A01596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00250"/>
            <a:ext cx="17907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F4AC5-C8E6-4519-8ACA-392E239E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333625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0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Executable change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tests ·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979FFA-A9FD-46CD-8371-6DAAB4D4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67125"/>
            <a:ext cx="471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80ECAD-5FB6-4D2F-ADB4-E3097CB4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452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NO OPENSPEC｜existing SSOT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04B21-ADC8-456A-A4CC-BE2AEF14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4714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Simple P0: inline plan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Complex / risky: writing-plans → TDD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00D71-64BE-433D-A527-5A77EE53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67125"/>
            <a:ext cx="549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6253A-0FBE-41D8-B68B-FE70C40B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24275"/>
            <a:ext cx="5305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OPENSPEC｜durable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798D3-2490-4362-A382-630EEF84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095750"/>
            <a:ext cx="54959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tasks.md = one implementation ledger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expand in place → /opsx:apply → per-task TDD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E9A72-0810-4300-A8C9-4A372AB8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E8893E-C6C7-477B-87BC-4F367A6D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53075"/>
            <a:ext cx="11001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Delivery: multiple P0 outcomes → to-tickets　|　Implementation: tasks.md or inline / writing-plans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FB789-785E-4489-8B02-0F4E120C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34100"/>
            <a:ext cx="904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to-tickets ≠ tasks.md　|　existing tasks.md → no second plan</a:t>
            </a:r>
          </a:p>
        </p:txBody>
      </p:sp>
    </p:spTree>
    <p:extLst>
      <p:ext uri="{BB962C8B-B14F-4D97-AF65-F5344CB8AC3E}">
        <p14:creationId xmlns:p14="http://schemas.microsoft.com/office/powerpoint/2010/main" val="90937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Choose Skills Inside the Current Stage</a:t>
            </a:r>
          </a:p>
        </p:txBody>
      </p:sp>
      <p:cxnSp>
        <p:nvCxnSpPr>
          <p:cNvPr id="730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 · 把問題弄對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Research → 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問：change boundary / FR / NFR？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用：read-only codebase research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→ brainstorming / grill-me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留：approved Feature Design</a:t>
            </a:r>
          </a:p>
        </p:txBody>
      </p:sp>
      <p:cxnSp>
        <p:nvCxnSpPr>
          <p:cNvPr id="737" name=""/>
          <p:cNvCxnSpPr/>
          <p:nvPr/>
        </p:nvCxnSpPr>
        <p:spPr>
          <a:xfrm xmlns:a="http://schemas.openxmlformats.org/drawingml/2006/main">
            <a:off x="62865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Understanding + Change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 · Inside the 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Plan → Implement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Delivery: multiple outcomes → P0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OpenSpec: tasks.md = one ledger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No OpenSpec: inline / writing-plans*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Implement: TDD + bounded change</a:t>
            </a:r>
          </a:p>
        </p:txBody>
      </p:sp>
      <p:cxnSp>
        <p:nvCxnSpPr>
          <p:cNvPr id="745" name=""/>
          <p:cNvCxnSpPr/>
          <p:nvPr/>
        </p:nvCxnSpPr>
        <p:spPr>
          <a:xfrm xmlns:a="http://schemas.openxmlformats.org/drawingml/2006/main">
            <a:off x="4505325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P0 acceptance +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764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 · 用證據完成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5265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Validate → Release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3000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Review actual diff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Verify acceptance + affected risk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Prepare rollback / observe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Hand off to existing release / E3</a:t>
            </a:r>
          </a:p>
        </p:txBody>
      </p:sp>
      <p:cxnSp>
        <p:nvCxnSpPr>
          <p:cNvPr id="753" name=""/>
          <p:cNvCxnSpPr/>
          <p:nvPr/>
        </p:nvCxnSpPr>
        <p:spPr>
          <a:xfrm xmlns:a="http://schemas.openxmlformats.org/drawingml/2006/main">
            <a:off x="8382000" y="4762500"/>
            <a:ext cx="30194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736404-A14D-4C18-A696-0256E9DC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DONE WHEN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6CEE82-16AE-4E5F-95FD-6B69D0ED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3000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Evidence Gate + 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1391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151515"/>
                </a:solidFill>
                <a:latin typeface="Noto Sans TC"/>
                <a:ea typeface="Noto Sans TC"/>
                <a:cs typeface="Noto Sans TC"/>
              </a:rPr>
              <a:t>TAKEAWAY · Six Questions → context　|　Golden Flow → Stage　|　Skill → inside Stage</a:t>
            </a:r>
          </a:p>
        </p:txBody>
      </p:sp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93FE033D-66FD-48F9-BD5B-BB55095E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AI Engineering：Design / Implement 各 1.5 週，總時間 8 → 6 週</a:t>
            </a:r>
          </a:p>
        </p:txBody>
      </p:sp>
      <p:cxnSp>
        <p:nvCxnSpPr>
          <p:cNvPr id="246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C6BFC-F52C-44C1-8405-957119A6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4A3A1-68E1-4207-AFA4-D8A95211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5A021-266B-4788-9BBC-1258BEE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3"/>
          </a:solidFill>
          <a:ln xmlns:a="http://schemas.openxmlformats.org/drawingml/2006/main" w="0">
            <a:solidFill>
              <a:srgbClr val="163A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1578-E369-4BAE-B560-5A7E7560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7302B-A3EB-48CC-B6F5-DB990F5A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↑ Shared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F4F60F-AB8B-4625-B263-C67223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documented decisions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shared evidence ·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A33C3-2CCF-4A54-81FF-0EB401E4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AS-IS · 8 WEEKS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6842B-ABB5-4FF4-A1FD-E1CDCA1B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3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4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single-repo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unclear FR/NFR · thin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7F80-F62D-40D2-92E2-ED78BB13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CABB4-DC44-41E1-9F46-1D949A9B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8C8"/>
          </a:solidFill>
          <a:ln xmlns:a="http://schemas.openxmlformats.org/drawingml/2006/main" w="0">
            <a:solidFill>
              <a:srgbClr val="1D7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92CCA2-507D-42DA-8734-85109C59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LEAD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86718B-9A73-4457-83A1-BB15F205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8 → 6 wk target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E8CF7-588E-4B22-B1D5-EBD03B7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faster implementation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fewer rework loops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AAA05-C9F4-41A3-8E51-7516AD09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38475"/>
            <a:ext cx="2333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50" b="1">
                <a:solidFill>
                  <a:srgbClr val="1D78C8"/>
                </a:solidFill>
                <a:latin typeface="Noto Sans TC"/>
                <a:ea typeface="Noto Sans TC"/>
                <a:cs typeface="Noto Sans TC"/>
              </a:rPr>
              <a:t>AI · 6 WEEKS · -25%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7F1E-5C6A-4C5D-9DA5-F8B7D34C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86125"/>
            <a:ext cx="2333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1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≈ 3 × 2-week sprints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system-wide research</a:t>
            </a:r>
          </a:p>
          <a:p xmlns:a="http://schemas.openxmlformats.org/drawingml/2006/main">
            <a:pPr algn="l">
              <a:buNone/>
              <a:defRPr sz="1125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explicit design · TDD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55014B-D426-4312-9964-BB50BC02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C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509BE-B834-486F-9D0D-208CCDA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52950"/>
            <a:ext cx="3476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8DF"/>
          </a:solidFill>
          <a:ln xmlns:a="http://schemas.openxmlformats.org/drawingml/2006/main" w="0">
            <a:solidFill>
              <a:srgbClr val="46B8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849E1-4FD0-4CB6-955A-4697BB2D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0100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CHANGE FAILURE 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2C016-5C5A-465D-ACE0-B92F537B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62525"/>
            <a:ext cx="3019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163A53"/>
                </a:solidFill>
                <a:latin typeface="Noto Sans TC"/>
                <a:ea typeface="Noto Sans TC"/>
                <a:cs typeface="Noto Sans TC"/>
              </a:rPr>
              <a:t>↓ Lower 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B0C43-A552-45B0-BE18-D698452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95900"/>
            <a:ext cx="30194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design · code · test quality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0">
                <a:solidFill>
                  <a:srgbClr val="4F5B66"/>
                </a:solidFill>
                <a:latin typeface="Noto Sans TC"/>
                <a:ea typeface="Noto Sans TC"/>
                <a:cs typeface="Noto Sans TC"/>
              </a:rPr>
              <a:t>release readiness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3E22B-FC08-462D-B6F0-B9AA25B4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57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100" b="1">
                <a:solidFill>
                  <a:srgbClr val="606B7A"/>
                </a:solidFill>
                <a:latin typeface="Noto Sans TC"/>
                <a:ea typeface="Noto Sans TC"/>
                <a:cs typeface="Noto Sans TC"/>
              </a:rPr>
              <a:t>Human judgment × AI execution 才是 productivity leverage；8 → 6 weeks 僅為 illustrative target，仍以 pilots 校準。</a:t>
            </a:r>
          </a:p>
        </p:txBody>
      </p:sp>
      <p:pic>
        <p:nvPicPr>
          <p:cNvPr id="2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4aa3f1c3b14cc7"/>
          <a:srcRect xmlns:a="http://schemas.openxmlformats.org/drawingml/2006/main" l="125" t="0" r="1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8558" y="1476375"/>
            <a:ext cx="8741833" cy="2809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48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B983216B-B198-4B14-A0A9-6CF04FB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defRPr>
            </a:pPr>
            <a:r>
              <a:rPr sz="900" b="1">
                <a:solidFill>
                  <a:srgbClr val="2478E5"/>
                </a:solidFill>
                <a:latin typeface="Nimbus Sans"/>
                <a:ea typeface="Nimbus Sans"/>
                <a:cs typeface="Nimbus Sans"/>
              </a:rPr>
              <a:t>START WITH A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7F9D-C209-4CBC-B9DD-AB7A7D10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明天從一張 P1 Feature 開始：六個問題全部回答</a:t>
            </a:r>
          </a:p>
        </p:txBody>
      </p:sp>
      <p:cxnSp>
        <p:nvCxnSpPr>
          <p:cNvPr id="599" name="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75A72-5745-4C7E-B098-7D5AF62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1985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AD55B-C19C-4B6C-A349-C2B0CC0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P1 FEATURE · 60-SECOND 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0A5C1-B68D-47AD-9009-56B9A69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D2C76-2802-408E-A12C-7AF0629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工作位置？ existing activity / system of record</a:t>
            </a:r>
          </a:p>
        </p:txBody>
      </p:sp>
      <p:cxnSp>
        <p:nvCxnSpPr>
          <p:cNvPr id="604" name=""/>
          <p:cNvCxnSpPr/>
          <p:nvPr/>
        </p:nvCxnSpPr>
        <p:spPr>
          <a:xfrm xmlns:a="http://schemas.openxmlformats.org/drawingml/2006/main">
            <a:off x="914400" y="24098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124EC-0E88-44EC-AC94-B26B74D9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F5DA1-1519-47AD-90FB-8482D8AB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Work Level？ P3 / P2 / P1 / P0</a:t>
            </a:r>
          </a:p>
        </p:txBody>
      </p:sp>
      <p:cxnSp>
        <p:nvCxnSpPr>
          <p:cNvPr id="607" name=""/>
          <p:cNvCxnSpPr/>
          <p:nvPr/>
        </p:nvCxnSpPr>
        <p:spPr>
          <a:xfrm xmlns:a="http://schemas.openxmlformats.org/drawingml/2006/main">
            <a:off x="914400" y="304800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2BB758-A06A-43D7-9FEF-1CB8A55F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8F88E-9677-4CEA-A527-08C99AFB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Archetype？ Greenfield / Modernization / Standard</a:t>
            </a:r>
          </a:p>
        </p:txBody>
      </p:sp>
      <p:cxnSp>
        <p:nvCxnSpPr>
          <p:cNvPr id="610" name=""/>
          <p:cNvCxnSpPr/>
          <p:nvPr/>
        </p:nvCxnSpPr>
        <p:spPr>
          <a:xfrm xmlns:a="http://schemas.openxmlformats.org/drawingml/2006/main">
            <a:off x="914400" y="368617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046E0-440B-4A81-BCA5-60A57B4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15CA2-2FA4-404B-BA2C-02ADAD9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Current Stage？ 第一個還不能可靠回答的問題</a:t>
            </a:r>
          </a:p>
        </p:txBody>
      </p:sp>
      <p:cxnSp>
        <p:nvCxnSpPr>
          <p:cNvPr id="613" name=""/>
          <p:cNvCxnSpPr/>
          <p:nvPr/>
        </p:nvCxnSpPr>
        <p:spPr>
          <a:xfrm xmlns:a="http://schemas.openxmlformats.org/drawingml/2006/main">
            <a:off x="914400" y="4324350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5831D7-138A-4BDC-8FF6-427E0BD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E8BE8E-3438-4E8C-A119-4C66F17E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Control Profile？ criticality / risk / AI authority</a:t>
            </a:r>
          </a:p>
        </p:txBody>
      </p:sp>
      <p:cxnSp>
        <p:nvCxnSpPr>
          <p:cNvPr id="616" name=""/>
          <p:cNvCxnSpPr/>
          <p:nvPr/>
        </p:nvCxnSpPr>
        <p:spPr>
          <a:xfrm xmlns:a="http://schemas.openxmlformats.org/drawingml/2006/main">
            <a:off x="914400" y="4962525"/>
            <a:ext cx="4476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BE04C2-D91B-4AD5-B9DE-9CC1B22C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504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WHAT CHANGES TOMORROW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AE7B23-8F86-406C-8D93-CA04322B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812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3C903-718C-4B4C-A936-43382A1A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526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Engineer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6B1E74-661F-488A-94AB-FEEFD207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Use active defaults；candidate skill 不阻塞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8CCEE7-B911-4EAC-B337-FD38145F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91465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EF652-3839-44D2-AAE3-2E1E6287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861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Tech Lead / Architect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380E2-ABA0-4A44-B641-2461032E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Approve design、equivalent skills 與 gate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90D183-62FB-4E1B-BD16-2F5F80E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848100"/>
            <a:ext cx="5114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2CEC29-8CA1-4ECE-86E5-A766F74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195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Manager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70A761-77A8-4094-90A6-6F9AE98E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81450"/>
            <a:ext cx="2828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570"/>
                </a:solidFill>
                <a:latin typeface="Noto Sans TC"/>
                <a:ea typeface="Noto Sans TC"/>
                <a:cs typeface="Noto Sans TC"/>
              </a:rPr>
              <a:t>Integrate existing workflow；remove blockers；review outcomes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F1388-212A-4E0D-9FF4-9BE8C38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72050"/>
            <a:ext cx="511492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251B0D-141E-4FF1-91D9-124435B4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530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6DCBF4"/>
                </a:solidFill>
                <a:latin typeface="Noto Sans TC"/>
                <a:ea typeface="Noto Sans TC"/>
                <a:cs typeface="Noto Sans TC"/>
              </a:rPr>
              <a:t>TEAM ADAPTER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BBF877-E486-4CA7-B87E-4321FF11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578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1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Map local activity → Golden Stage / Gate / artifact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Department：minimum contract + defaults · Team：approved equivalents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2AA94C-EF1D-441A-911C-3E17E1EF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055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73B57"/>
                </a:solidFill>
                <a:latin typeface="Noto Sans TC"/>
                <a:ea typeface="Noto Sans TC"/>
                <a:cs typeface="Noto Sans TC"/>
              </a:rPr>
              <a:t>AI 執行更多；Engineer 仍負責六題、design trade-off、evidence 與 approval。執行中更新 Stage／Next Move。</a:t>
            </a:r>
          </a:p>
        </p:txBody>
      </p:sp>
      <p:sp>
        <p:nvSpPr>
          <p:cNvPr id="255" name="six-question-6-number">
            <a:extLst xmlns:a="http://schemas.openxmlformats.org/drawingml/2006/main">
              <a:ext uri="{FF2B5EF4-FFF2-40B4-BE49-F238E27FC236}">
                <a16:creationId xmlns:a16="http://schemas.microsoft.com/office/drawing/2014/main" id="{C49DD5BE-0086-4E18-9DBE-6A238C75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2478E5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256" name="six-question-6-text">
            <a:extLst xmlns:a="http://schemas.openxmlformats.org/drawingml/2006/main">
              <a:ext uri="{FF2B5EF4-FFF2-40B4-BE49-F238E27FC236}">
                <a16:creationId xmlns:a16="http://schemas.microsoft.com/office/drawing/2014/main" id="{E784FF07-403A-4FFD-8F21-6F58BD0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111111"/>
                </a:solidFill>
                <a:latin typeface="Noto Sans TC"/>
                <a:ea typeface="Noto Sans TC"/>
                <a:cs typeface="Noto Sans TC"/>
              </a:rPr>
              <a:t>Next Move？ capability → evidence → Gate</a:t>
            </a:r>
          </a:p>
        </p:txBody>
      </p:sp>
    </p:spTree>
    <p:extLst>
      <p:ext uri="{BB962C8B-B14F-4D97-AF65-F5344CB8AC3E}">
        <p14:creationId xmlns:p14="http://schemas.microsoft.com/office/powerpoint/2010/main" val="1783262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2026-07-20T07:42:58.4760000Z</dcterms:created>
  <dcterms:modified xsi:type="dcterms:W3CDTF">2026-07-20T07:42:58.4760000Z</dcterms:modified>
</coreProperties>
</file>
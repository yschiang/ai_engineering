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39bf569e7d4c06" /><Relationship Type="http://schemas.openxmlformats.org/officeDocument/2006/relationships/extended-properties" Target="/docProps/app.xml" Id="R4bff38237a264a08" /><Relationship Type="http://schemas.openxmlformats.org/officeDocument/2006/relationships/officeDocument" Target="/ppt/presentation.xml" Id="R1fb79130bf2e48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d07d1937244c8d"/>
  </p:sldMasterIdLst>
  <p:notesMasterIdLst>
    <p:notesMasterId xmlns:r="http://schemas.openxmlformats.org/officeDocument/2006/relationships" r:id="Rafa9f2f7fa314e32"/>
  </p:notesMasterIdLst>
  <p:sldIdLst>
    <p:sldId xmlns:r="http://schemas.openxmlformats.org/officeDocument/2006/relationships" id="256" r:id="Rbe72169caeeb4e5f"/>
    <p:sldId xmlns:r="http://schemas.openxmlformats.org/officeDocument/2006/relationships" id="257" r:id="R471ab88cfc3b4fe8"/>
    <p:sldId xmlns:r="http://schemas.openxmlformats.org/officeDocument/2006/relationships" id="258" r:id="R3c3d1ece4f1c4079"/>
    <p:sldId xmlns:r="http://schemas.openxmlformats.org/officeDocument/2006/relationships" id="259" r:id="R7462725418c2404f"/>
    <p:sldId xmlns:r="http://schemas.openxmlformats.org/officeDocument/2006/relationships" id="260" r:id="Rb5b9afc9fca54736"/>
    <p:sldId xmlns:r="http://schemas.openxmlformats.org/officeDocument/2006/relationships" id="261" r:id="Rd71a937202d04098"/>
    <p:sldId xmlns:r="http://schemas.openxmlformats.org/officeDocument/2006/relationships" id="262" r:id="R22429fea4df541a4"/>
    <p:sldId xmlns:r="http://schemas.openxmlformats.org/officeDocument/2006/relationships" id="263" r:id="R485c8a5e203e47cd"/>
    <p:sldId xmlns:r="http://schemas.openxmlformats.org/officeDocument/2006/relationships" id="264" r:id="Rcb6965780dda4833"/>
    <p:sldId xmlns:r="http://schemas.openxmlformats.org/officeDocument/2006/relationships" id="265" r:id="Rdbd329adaf8f48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1ef4a43d474961" /><Relationship Type="http://schemas.openxmlformats.org/officeDocument/2006/relationships/slideMaster" Target="/ppt/slideMasters/slideMaster1.xml" Id="R32d07d1937244c8d" /><Relationship Type="http://schemas.openxmlformats.org/officeDocument/2006/relationships/notesMaster" Target="/ppt/notesMasters/notesMaster1.xml" Id="Rafa9f2f7fa314e32" /><Relationship Type="http://schemas.openxmlformats.org/officeDocument/2006/relationships/presProps" Target="/ppt/presProps.xml" Id="R1ff1ea561bc141f6" /><Relationship Type="http://schemas.openxmlformats.org/officeDocument/2006/relationships/tableStyles" Target="/ppt/tableStyles.xml" Id="R5a5993f77fd94893" /><Relationship Type="http://schemas.openxmlformats.org/officeDocument/2006/relationships/slide" Target="/ppt/slides/slide1.xml" Id="Rbe72169caeeb4e5f" /><Relationship Type="http://schemas.openxmlformats.org/officeDocument/2006/relationships/slide" Target="/ppt/slides/slide2.xml" Id="R471ab88cfc3b4fe8" /><Relationship Type="http://schemas.openxmlformats.org/officeDocument/2006/relationships/slide" Target="/ppt/slides/slide3.xml" Id="R3c3d1ece4f1c4079" /><Relationship Type="http://schemas.openxmlformats.org/officeDocument/2006/relationships/slide" Target="/ppt/slides/slide4.xml" Id="R7462725418c2404f" /><Relationship Type="http://schemas.openxmlformats.org/officeDocument/2006/relationships/slide" Target="/ppt/slides/slide5.xml" Id="Rb5b9afc9fca54736" /><Relationship Type="http://schemas.openxmlformats.org/officeDocument/2006/relationships/slide" Target="/ppt/slides/slide6.xml" Id="Rd71a937202d04098" /><Relationship Type="http://schemas.openxmlformats.org/officeDocument/2006/relationships/slide" Target="/ppt/slides/slide7.xml" Id="R22429fea4df541a4" /><Relationship Type="http://schemas.openxmlformats.org/officeDocument/2006/relationships/slide" Target="/ppt/slides/slide8.xml" Id="R485c8a5e203e47cd" /><Relationship Type="http://schemas.openxmlformats.org/officeDocument/2006/relationships/slide" Target="/ppt/slides/slide9.xml" Id="Rcb6965780dda4833" /><Relationship Type="http://schemas.openxmlformats.org/officeDocument/2006/relationships/slide" Target="/ppt/slides/slide10.xml" Id="Rdbd329adaf8f48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c882feb8b34a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5f1d76b2364b01" /><Relationship Type="http://schemas.openxmlformats.org/officeDocument/2006/relationships/notesMaster" Target="/ppt/notesMasters/notesMaster1.xml" Id="R451ded7c4be245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76f2f9c5784f67" /><Relationship Type="http://schemas.openxmlformats.org/officeDocument/2006/relationships/notesMaster" Target="/ppt/notesMasters/notesMaster1.xml" Id="Rbe0ec9e5965246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6a418eae614ec9" /><Relationship Type="http://schemas.openxmlformats.org/officeDocument/2006/relationships/notesMaster" Target="/ppt/notesMasters/notesMaster1.xml" Id="R8fab88a46ab147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15f6e265024d03" /><Relationship Type="http://schemas.openxmlformats.org/officeDocument/2006/relationships/notesMaster" Target="/ppt/notesMasters/notesMaster1.xml" Id="R30358ff5d1624b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48a6b22ab546da" /><Relationship Type="http://schemas.openxmlformats.org/officeDocument/2006/relationships/notesMaster" Target="/ppt/notesMasters/notesMaster1.xml" Id="Rf87aa7e1c6ba4d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2391a897c94f3d" /><Relationship Type="http://schemas.openxmlformats.org/officeDocument/2006/relationships/notesMaster" Target="/ppt/notesMasters/notesMaster1.xml" Id="R280db3d7874f4f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927d799f034dd8" /><Relationship Type="http://schemas.openxmlformats.org/officeDocument/2006/relationships/notesMaster" Target="/ppt/notesMasters/notesMaster1.xml" Id="R08bb155bd72f4d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7b0b1142cc4edf" /><Relationship Type="http://schemas.openxmlformats.org/officeDocument/2006/relationships/notesMaster" Target="/ppt/notesMasters/notesMaster1.xml" Id="Rddf703d9ffe046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01b3da0d134578" /><Relationship Type="http://schemas.openxmlformats.org/officeDocument/2006/relationships/notesMaster" Target="/ppt/notesMasters/notesMaster1.xml" Id="R9736a282086044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737637a6b743f7" /><Relationship Type="http://schemas.openxmlformats.org/officeDocument/2006/relationships/notesMaster" Target="/ppt/notesMasters/notesMaster1.xml" Id="Reff8223a127c4d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96c6648ce49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0ca5506ef240ca" /><Relationship Type="http://schemas.openxmlformats.org/officeDocument/2006/relationships/slideLayout" Target="/ppt/slideLayouts/slideLayout1.xml" Id="R14c74f2389d342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c74f2389d342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3ca60de7942ff" /><Relationship Type="http://schemas.openxmlformats.org/officeDocument/2006/relationships/notesSlide" Target="/ppt/notesSlides/notesSlide1.xml" Id="Rfa91b106193b4f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b2cc821364806" /><Relationship Type="http://schemas.openxmlformats.org/officeDocument/2006/relationships/notesSlide" Target="/ppt/notesSlides/notesSlide2.xml" Id="Ref7b9ed3fe424f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855154fd5403d" /><Relationship Type="http://schemas.openxmlformats.org/officeDocument/2006/relationships/notesSlide" Target="/ppt/notesSlides/notesSlide3.xml" Id="R277ddf3f485347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fc3f6f0004b89" /><Relationship Type="http://schemas.openxmlformats.org/officeDocument/2006/relationships/notesSlide" Target="/ppt/notesSlides/notesSlide4.xml" Id="R7fd45de9433943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60a8402c146c5" /><Relationship Type="http://schemas.openxmlformats.org/officeDocument/2006/relationships/notesSlide" Target="/ppt/notesSlides/notesSlide5.xml" Id="R114dee77c2024e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f36bb5160487e" /><Relationship Type="http://schemas.openxmlformats.org/officeDocument/2006/relationships/notesSlide" Target="/ppt/notesSlides/notesSlide6.xml" Id="R248db5b9f36a4c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1bc87e55a4d07" /><Relationship Type="http://schemas.openxmlformats.org/officeDocument/2006/relationships/notesSlide" Target="/ppt/notesSlides/notesSlide7.xml" Id="R7b629d19f8934e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3845077cf4274" /><Relationship Type="http://schemas.openxmlformats.org/officeDocument/2006/relationships/notesSlide" Target="/ppt/notesSlides/notesSlide8.xml" Id="R191f885c2abd4b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8480e9cf34448" /><Relationship Type="http://schemas.openxmlformats.org/officeDocument/2006/relationships/notesSlide" Target="/ppt/notesSlides/notesSlide9.xml" Id="R39dfe91b94ff4e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5e00611524061" /><Relationship Type="http://schemas.openxmlformats.org/officeDocument/2006/relationships/notesSlide" Target="/ppt/notesSlides/notesSlide10.xml" Id="Rb55df2af474a44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0F5248-8460-49F9-A402-0E7EE89D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DEPARTMENT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7C63B-6AA5-4803-9912-AE2D0985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AI-Native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26526-EC51-43C0-AAB8-E0B281F9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561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6BDAC-5866-4227-97F1-62F08BDA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Golden Playbook for faster, safer, evidence-based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D2A39-69C3-4B1E-8AC4-4D07FD4B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 → Design → Plan → Implement → Validate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E0F0C-38D6-49C8-A983-E9D00689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103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00" b="0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v1.1 Baseline Candidate</a:t>
            </a:r>
          </a:p>
        </p:txBody>
      </p:sp>
    </p:spTree>
    <p:extLst>
      <p:ext uri="{BB962C8B-B14F-4D97-AF65-F5344CB8AC3E}">
        <p14:creationId xmlns:p14="http://schemas.microsoft.com/office/powerpoint/2010/main" val="1451127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FAA05A-E2F4-4DD0-9795-2EBB91DC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 加速產出，但不會自動帶來正確性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34ADB-D7EB-44F5-8F76-7EA66C1E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B5263-D1D0-4679-B0E7-0989A247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沒有共同 operating model，速度只會更快放大三種工程風險。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1AB75-CF0F-4BE6-9374-57E1C177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3476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24546-3FCF-4A3C-9315-B606E834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23857-CE29-4357-89E8-D85CEFD1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理解錯問題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8F2A4-B4F5-4B56-86CD-E61D025A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缺少 system、domain、code evidence，直接產生 solution。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B7AB1-9545-4782-872F-91443112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3476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B0FD9-6230-422F-920D-778E1C8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241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B735F-2BC4-4CC4-9FE2-0F165BC6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86075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設計與 scope 漂移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5CFBD-3B57-4980-A6D1-F96C1532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54330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AI 生成大量內容，但 owner、boundary 與 trade-off 未決。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EAA47-5990-49F4-8BA5-23049164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476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AF620-A4D6-48AB-B3E5-276D4892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C59A8-CBC9-405A-9F67-7FD1A344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完成宣稱沒有證據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C889D-E9E4-4787-99A2-E67813E1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摘要看起來合理，卻缺少 fresh tests、review 與 recovery evidence。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1EB994-A4A1-499E-ADF5-60FB7626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需要的不是更多 prompts，而是一套讓人與 AI 都知道下一步、產出與責任的工程方法。</a:t>
            </a:r>
          </a:p>
        </p:txBody>
      </p:sp>
    </p:spTree>
    <p:extLst>
      <p:ext uri="{BB962C8B-B14F-4D97-AF65-F5344CB8AC3E}">
        <p14:creationId xmlns:p14="http://schemas.microsoft.com/office/powerpoint/2010/main" val="1423329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91BCB-78E4-48DE-AB3E-3192C385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一項工作只做四件事：分類、執行、留證、過 Gate</a:t>
            </a:r>
          </a:p>
        </p:txBody>
      </p:sp>
      <p:cxnSp>
        <p:nvCxnSpPr>
          <p:cNvPr id="130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45FA3-39F3-4294-8E7A-93466669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6A29F-86B2-4BF0-8F7C-EEEBD0E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4E358-0078-410C-9F81-89BCE37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CLASSIFY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7B60E-7A92-4B04-AB0E-2E2019BF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573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P3–P0  ·  Archetype  ·  Control Profile</a:t>
            </a:r>
          </a:p>
        </p:txBody>
      </p:sp>
      <p:cxnSp>
        <p:nvCxnSpPr>
          <p:cNvPr id="135" name=""/>
          <p:cNvCxnSpPr/>
          <p:nvPr/>
        </p:nvCxnSpPr>
        <p:spPr>
          <a:xfrm xmlns:a="http://schemas.openxmlformats.org/drawingml/2006/main">
            <a:off x="2190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136" name=""/>
          <p:cNvCxnSpPr/>
          <p:nvPr/>
        </p:nvCxnSpPr>
        <p:spPr>
          <a:xfrm xmlns:a="http://schemas.openxmlformats.org/drawingml/2006/main">
            <a:off x="4476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137" name=""/>
          <p:cNvCxnSpPr/>
          <p:nvPr/>
        </p:nvCxnSpPr>
        <p:spPr>
          <a:xfrm xmlns:a="http://schemas.openxmlformats.org/drawingml/2006/main">
            <a:off x="6762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138" name=""/>
          <p:cNvCxnSpPr/>
          <p:nvPr/>
        </p:nvCxnSpPr>
        <p:spPr>
          <a:xfrm xmlns:a="http://schemas.openxmlformats.org/drawingml/2006/main">
            <a:off x="9048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1358F-E088-428A-B623-2FBF6E55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B0859-CF74-45AC-AFD7-BD111C8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1B6FF-1833-439F-96BC-617A9A08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60667-E9B8-4E21-9DB8-65087417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Understand · Explore · Define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4A4D7-EF87-46F2-8EC4-41EFAD2D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5FAAF-F5C6-4501-AC14-23FEB13A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4C97B-95D7-412C-8A35-EB23D475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87A97-2730-4256-A4F9-8FB19B7F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System Design* · Feature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5B2F2-4EA5-4B3B-B9BD-52E53AA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DB9E7-C060-41E7-A080-BE7088D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82BA4-2011-4057-917D-C12E55C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AE2E6-D809-4519-87BC-D640C50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P1→P0 · P0→tasks JIT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2EEDE-92F8-4110-AC0D-88768D9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44BAB-191C-4921-ADD4-E5AEC486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E68D6-5720-449B-B45F-C9C1FA9E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Implement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23CAE-065D-4B9B-AC43-4A041DCD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TDD · bounded 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2A8C1-FBF5-4915-B9DE-02CA8C8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049B17-7F99-4567-ACF7-0B63D882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9DD13C-9242-4308-A97E-AF0E92CE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901030-E5E2-44EF-B20F-A4855CE8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Review · fresh evidence</a:t>
            </a:r>
          </a:p>
        </p:txBody>
      </p:sp>
      <p:cxnSp>
        <p:nvCxnSpPr>
          <p:cNvPr id="159" name=""/>
          <p:cNvCxnSpPr/>
          <p:nvPr/>
        </p:nvCxnSpPr>
        <p:spPr>
          <a:xfrm xmlns:a="http://schemas.openxmlformats.org/drawingml/2006/main">
            <a:off x="10487025" y="42672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076C5B-26B1-4CFF-8876-A40E9EA9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38700"/>
            <a:ext cx="4171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D2EE01-7DD3-4D89-B931-BA839CE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006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Release &amp; Operate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A5AEA1-A183-4F88-B87F-196210B3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196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Observe · Recover · Learn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A3A2F-C0C8-494A-B190-E7457D7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* System Design：P3/P2 required · P1 risk-triggered · P0 normally skip</a:t>
            </a:r>
          </a:p>
        </p:txBody>
      </p:sp>
    </p:spTree>
    <p:extLst>
      <p:ext uri="{BB962C8B-B14F-4D97-AF65-F5344CB8AC3E}">
        <p14:creationId xmlns:p14="http://schemas.microsoft.com/office/powerpoint/2010/main" val="593617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81F009-2D4D-411A-ACC3-F353D177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先選 Work Level；同一 Golden Flow 會遞迴套用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587AA-F0B0-42A1-8454-A2774598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1647825" y="23526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61" name=""/>
          <p:cNvCxnSpPr/>
          <p:nvPr/>
        </p:nvCxnSpPr>
        <p:spPr>
          <a:xfrm xmlns:a="http://schemas.openxmlformats.org/drawingml/2006/main">
            <a:off x="1647825" y="33242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62" name=""/>
          <p:cNvCxnSpPr/>
          <p:nvPr/>
        </p:nvCxnSpPr>
        <p:spPr>
          <a:xfrm xmlns:a="http://schemas.openxmlformats.org/drawingml/2006/main">
            <a:off x="1647825" y="42957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C1FCB-CCB7-4425-864C-C683484D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4591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3E688-AC70-470C-9439-01BE3F39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B5485-C9DB-40C6-BD35-E428A477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4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Product / Program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E2560-5DB8-4A86-9EDD-645E8B31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7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方向、architecture、Epic / Wave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09FE0-09C1-4312-A78A-6FB918D5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436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F1BF3-C854-4B93-BAD1-9FA14623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1B747-7C20-4D67-849E-E93A7E6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Epic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591CC-668F-4960-BE13-C10AF9E1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4322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跨 Feature capability、System Design、Feature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CC2CB-4B9C-40EE-94B8-2225C907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4133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D4B2D-5353-4B7D-9D80-152FEBE7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A8C38-662B-4DE9-B41F-67E4F877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Feature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A5780-B63C-4593-9FEE-FD9149C9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147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Bounded outcome、approved design、P0 slices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B42A5-5BE1-46A9-A584-D6CE98DA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6722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91BD1-D2C3-441D-AF6A-F3E8DBE9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F14D5-824C-4329-B7D2-2AB2BC81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10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PBI / User 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51949-8076-4CAF-AFF2-42C1CBF1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86325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Sprint-ready tracer bullet、independent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A1089-EC1C-41FF-A5B8-F9B0BCB9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4114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1CFE6-E3B3-4238-A617-B6916B7F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29275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Execution Layer  ·  Task / Plan Step / Commit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48382-AF37-4B9A-8EA8-5EE3F5E1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90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判斷規則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DB2BA-1C5B-4FF2-A15C-3D184200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E75C58-7262-4E6A-A705-16F8828B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47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D1BEAB-9602-4960-961A-E385A008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09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必須 narrow but complete、demoable、可獨立驗證。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DAFC5-3A0E-44D4-A2D8-557BF9F8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8607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8B9F9-1F1D-4D68-896A-999622E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38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41B089-2C43-4024-BE34-F5E46997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00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Task 是 P0 下方的 implementation decomposition，不是 Work Level。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96AA9F-24E8-43DA-9BD8-95D444F1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F20EC-C9B2-4F62-A464-6E8E4C2F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29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939E55-C12B-4D1C-89E7-505AFA7C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790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type：User Story · Enabler · Bug · Spike。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D1DBAF-622D-447B-B183-6D5AD300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6722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89943C-1971-4DFF-91FB-57AF91E8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75DA8F-0A42-4796-A9B3-E203EEA0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815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0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OpenSpec Change 是 P1/P0 scope-dependent artifact container。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418BEC-328C-4D73-AC98-B6E35FF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673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Depth changes；Golden Stage 不變。</a:t>
            </a:r>
          </a:p>
        </p:txBody>
      </p:sp>
    </p:spTree>
    <p:extLst>
      <p:ext uri="{BB962C8B-B14F-4D97-AF65-F5344CB8AC3E}">
        <p14:creationId xmlns:p14="http://schemas.microsoft.com/office/powerpoint/2010/main" val="19628285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CEFD91-6865-4466-BF71-AA0C8D11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Golden Matrix：選 Level 欄，再找 Current Stage 列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F05BC-99C9-427C-8D6E-19ACC491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9664E-0EBD-4A4F-9997-2802D3BE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每個 cell 都是：Lead skill / action → minimum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41958-64E7-4CC1-8ADD-446D7057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A9C53-910F-442C-84DB-42A6D1A1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954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D01BC-1DFB-45ED-8A49-69D03287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90700"/>
            <a:ext cx="25622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811B8-735A-4ED4-A933-5FD6AF47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95475"/>
            <a:ext cx="2371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P3 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7F2AF-70B1-4A6D-8BD9-D048E07B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90700"/>
            <a:ext cx="25622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7620B-7239-4825-AB73-EF0766B4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895475"/>
            <a:ext cx="2371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P2 Epic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6B2A1-D6E4-4443-8325-0529973A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25622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0F3C8-CA00-4BA7-A231-3B26FB15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95475"/>
            <a:ext cx="2371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Feature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17422-9D1D-4D34-96F6-C6A2DA95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90700"/>
            <a:ext cx="25622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0945D-7C6D-41B9-80FB-FDACBCF4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895475"/>
            <a:ext cx="2371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PBI / 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D7560-DD29-4BBA-88D7-68626ADD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42ED4-7FA3-44BC-A253-E846020E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71E37-9F60-49CF-AC24-5E9FDF56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0980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7EA3B-CA03-477D-9D2A-7BC1909E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3362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grill + understand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As-Is Brief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48E57-5C48-4445-9DC4-EB32B8B5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0980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76B83-6DC7-43C8-9F8F-BF8BB914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33362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research + grill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Epic Brief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46FF1-2794-469F-B062-68D60DAA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8F3346-B67E-4440-8842-4F55E6F0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codebase research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Research Brief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F27098-2A14-4BE2-B1F0-E5D40CFB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20980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8954C2-1629-4A53-908E-D5DEF7F9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3362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targeted research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context / root cause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38DFE0-D35F-4D54-AF10-681FC949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3AD93B-F443-4CCA-A9AE-5C1B4092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04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Design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3AEF84-F389-4EDE-B516-3F2C2871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5275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82366-42C1-448E-B58F-427F5E24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7657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system-design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Product Design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5F58B6-9C72-41B6-8D72-6E38A8E6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5275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2DCD1B-B3DF-4ED0-BD31-0FED73BE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7657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system-design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Epic Design + ADRs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AF1552-163D-4DCD-A398-87D5FC57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21453D-FAD4-4F11-9B62-8F6C3B7C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7657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brainstorming + SD*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Feature Design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66B98A-3DDC-4314-8B04-6A947238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5275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37EC20-7498-4A34-A903-8D8B196E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7657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micro-design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approach + 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949642-FC73-4ED8-9AFF-DE8853A4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80BC32-A795-4D61-AF68-9739A15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Plan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6A2C43-4488-4F03-9B95-1063BBDA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9570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A9E585-E5D5-478B-AA3E-B981287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1952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portfolio split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Roadmap / Waves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C49FFB-7F8D-47E9-8575-6588F8C8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9570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5A80B2-3B6A-4CBE-94FA-9A7A4D97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1952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feature split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backlog + deps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FD7808-8943-40A1-9938-4595F335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F74164-DBE9-4614-A4F1-BDD36DF8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to-tickets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P0 + Blocked by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F44E4A-85A1-489A-9DAB-94AB1AB0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69570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25FC19-D3B7-4269-847E-28F26F70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1952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writing-plans JIT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files + tests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956E23-CD6D-4B4A-ABC8-B8EA512F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C4D7AA-84A7-4666-9C9F-B6EDBA18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Implement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29EC31-12C2-46A8-96B1-D649226E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3865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93CFCC-0972-4780-8AAA-EA4FFF47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6247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through P2/P1/P0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increments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A6CD53-D82A-4D9D-A9A0-6CF23271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43865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FC0960-2432-463C-82E5-3277E32D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56247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through P1/P0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increments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EEE383-A0F5-4FA7-89B0-DC090CA9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8907FA-8CA3-4DB3-AB10-BF44371D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6247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frontier P0s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accepted slices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BDF7A2-A2FD-4260-B9D8-B004434F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43865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00933E-FF53-4964-8418-12D329C2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56247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TDD execution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code + tests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A0DF12-013F-4CA6-9DA2-84BC303C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181BBA-A0A6-43D3-BFFC-478157B8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Validate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3B42B7-FC2B-44D3-975E-719D8AFE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8160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8A3C7D-BE98-4627-9721-9ECE6FD8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0542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outcome + NFR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Program evidence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3E517D-AF1C-4231-8554-487F6941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18160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FE6C30-F8A8-44C7-8A66-9EC7410B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0542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E2E + rollout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Epic evidence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0359C6-7B70-4568-A813-B8F8F4BA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8160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FD23D0-B0CB-4992-8B53-CFEBAF75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0542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P0 rollup + review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Feature evidence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BD7C14-E73E-4A1D-A61F-F8384660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181600"/>
            <a:ext cx="2562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00120A-DDF4-4F4D-9A5A-7BAABA70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05425"/>
            <a:ext cx="2371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review + verify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→ PR / P0 evidence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C49096-929F-4AA1-8A63-EA02BBBD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Output 留在既有 ticket、OpenSpec、ADR、PR 或 test report；不新增文件。</a:t>
            </a:r>
          </a:p>
        </p:txBody>
      </p:sp>
    </p:spTree>
    <p:extLst>
      <p:ext uri="{BB962C8B-B14F-4D97-AF65-F5344CB8AC3E}">
        <p14:creationId xmlns:p14="http://schemas.microsoft.com/office/powerpoint/2010/main" val="1293232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B90C45-1B97-45CC-9A3D-9C69B8F8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 必須分兩層：先切 delivery，再做 JIT implementation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28BDE-FF90-43B1-9EAE-F6FF6BBF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24955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46672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75247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54" name=""/>
          <p:cNvCxnSpPr/>
          <p:nvPr/>
        </p:nvCxnSpPr>
        <p:spPr>
          <a:xfrm xmlns:a="http://schemas.openxmlformats.org/drawingml/2006/main">
            <a:off x="96964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91A2A-FA1F-481B-9331-3A7D4DD0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019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7BBD5-D394-43DF-BBEF-6FDD84CD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Approved P1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Feature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36225-876D-4706-AA79-E9EB426D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905A7-5BA4-4B65-8363-257973F0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to-tickets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EA47F-27B4-4826-BFA9-6F6E87C5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596F8-4758-4B64-95BB-FDA2B106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336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tracer bullets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+ Blocked by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81A72-E61C-440E-BF33-F7BB4B97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0F0A8-2EA8-4843-9F4A-CBCBF6AB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writing-plans*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3E6ED-2864-4100-AF6E-6A01596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F4AC5-C8E6-4519-8ACA-392E239E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02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Execution Tasks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files · tests · commands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79FFA-A9FD-46CD-8371-6DAAB4D4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4714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0ECAD-5FB6-4D2F-ADB4-E3097CB4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4275"/>
            <a:ext cx="452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DELIVERY DECOMPOSITION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04B21-ADC8-456A-A4CC-BE2AEF14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→ P0：每張 ticket 是 narrow but complete tracer bullet。沒有 blocker 的項目形成 execution frontier。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00D71-64BE-433D-A527-5A77EE53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67125"/>
            <a:ext cx="549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6253A-0FBE-41D8-B68B-FE70C40B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24275"/>
            <a:ext cx="530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IMPLEMENTATION PLANNING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798D3-2490-4362-A382-630EEF84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95750"/>
            <a:ext cx="54959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單一 P0 即將執行且 multi-step / risky / complex 時才產生 exact implementation plan。簡單 P0 可 inline。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E9A72-0810-4300-A8C9-4A372AB8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8893E-C6C7-477B-87BC-4F367A6D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53075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禁止：先替整個 Epic / Feature 建立巨大 implementation plan。Wide refactor 使用 expand → migrate batches → contract。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CFB789-785E-4489-8B02-0F4E120C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* OpenSpec tasks.md 已達 executable plan 標準時直接使用；不建立雙份 plan。</a:t>
            </a:r>
          </a:p>
        </p:txBody>
      </p:sp>
    </p:spTree>
    <p:extLst>
      <p:ext uri="{BB962C8B-B14F-4D97-AF65-F5344CB8AC3E}">
        <p14:creationId xmlns:p14="http://schemas.microsoft.com/office/powerpoint/2010/main" val="90937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E4E01B-E77F-40C1-845B-DE6648F1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每個 capability 只負責一件事，避免工具互相重疊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901CE-4028-428A-9072-A25F3B14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D46A1-76FF-4E8D-A3F2-B0FEBC0D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Framework 是 capability-based；下列工具只是 reference implementation。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7FF95-5E41-4CA8-B765-0DF0FA7F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6319E-C739-4830-95BB-764681C1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669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Research skills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5D877-E97D-4515-AEE4-B040D029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952625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Understand Anything · codebase-research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grill-me · systematic-debugging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BCEAD-A81E-47F1-B0E7-76A59716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3571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建立可信的 domain / system / code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DA8AD-395E-4CCD-98B1-F8D5B6DF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EDE78-F1A3-4908-AF40-98209848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OpenSpec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B1141-C598-4146-AD5D-A9229C59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71775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Explore E0 optional: /opsx:explore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Durable: /opsx:propose or /opsx:new + /opsx:continue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7CCD0-2A61-4452-BA65-51881BF7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71775"/>
            <a:ext cx="3571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Execute: /opsx:apply → /opsx:verify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Close: /opsx:sync → /opsx:archive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1C225-F6DA-4AAB-89E0-6C084BBF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0AAC7-16CB-4B87-867A-0DCA7F3C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to-tickets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93120-1867-4320-9B3C-AA2DDA56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590925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Approved P1 Feature → P0 tracer bullets + blockers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3BA35-FFB1-49B5-AF95-68F22F5A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90925"/>
            <a:ext cx="3571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擁有 delivery decomposition 與 execution frontier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3D09B-CC41-4438-AC88-012287C1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C2598-03AD-4ED4-A4B0-07F56B4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Superpowers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6975F6-4378-4599-866D-F578B849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10075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brainstorming · writing-plans · TDD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execution · review · verification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99BE4-A3F5-4333-962F-45833081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3571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擁有 design 與單一 P0 execution discipline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BEEFA-2AD3-46DA-BDDE-0BB20B34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943A6-9C71-41C6-9550-190BD8E8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35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Human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053BA-F87A-4A36-A367-2CA6CB31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29225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Direction · trade-off · authorization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risk acceptance · 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2678BF-DBC7-45AD-9A57-825A7353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29225"/>
            <a:ext cx="3571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對 outcome 與 production decision accountable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6954E4-FFEE-48B8-95E6-B69E66DE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SSOT：P3/P2 architecture 留在 Product/Architecture artifacts；OpenSpec 只承載 bounded P1/P0 delta。</a:t>
            </a:r>
          </a:p>
        </p:txBody>
      </p:sp>
    </p:spTree>
    <p:extLst>
      <p:ext uri="{BB962C8B-B14F-4D97-AF65-F5344CB8AC3E}">
        <p14:creationId xmlns:p14="http://schemas.microsoft.com/office/powerpoint/2010/main" val="1105155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2455E6-6819-42E8-9808-BE7F534D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風險決定 rigor；三個 Gate 決定是否能往前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12A59-FA55-4EC1-8DCC-5470B9F2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74DF5-C7D9-44B9-BB36-A9D6E5FD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CONTROL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1A9E7-0755-4398-AE12-200E40DD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System Criticality  ×  Change Risk Tier  ×  AI Execution Mode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8C253-15CD-4F69-BC1B-FAB708E7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5143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6CFBD-B9E3-4461-85EC-9ED7D553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Criticality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C2C96-1FAB-45CA-9596-95FD92CF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813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系統重要度與 blast radius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005A0-A3D9-4202-9FE5-7989C382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5143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5A7E6-5F22-4E1E-925D-3D3BAFB2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L0–L3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3BB27-F8A9-42A7-AF5A-9DE0B536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0047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material risk、reversibility、recovery cost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D06BE-9B83-4FEA-B35C-28021262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5143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03D9E-3967-47EF-983F-01FA2999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E0–E3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062E7-000D-4E66-84D5-875EBBEA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96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Observe → Propose → Change → 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153C2-C232-4011-9946-334BA9A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514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EDB00-6002-49A8-8A1B-4B1F0227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Tier 控制 engineering rigor；Execution Mode 控制 authorization。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3D036-C3FF-4557-87BB-3EF11A19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4954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THREE HUMAN GATES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FF891-B8FE-432C-9C78-18A187A0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52625"/>
            <a:ext cx="51149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6AAD5-241A-4F80-AC03-13337614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431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D51DE-524C-4C6F-BA28-E3EC15F9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24075"/>
            <a:ext cx="390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Understanding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DEA9E-15AA-440A-8DD0-F6C17764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95550"/>
            <a:ext cx="4048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current state、problem、scope、unknowns 有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275BC-B3C5-4863-82C1-1FA9AE49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09925"/>
            <a:ext cx="51149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30999F-564B-4541-89B6-BEF1ED10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004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5C3E3-3461-44D4-8B46-F1E3348C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81375"/>
            <a:ext cx="390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Change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8E1296-00E3-438B-BA59-5E8DE52E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52850"/>
            <a:ext cx="4048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design、risk、P0 decomposition、triggered plan 可接受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9394FC-F103-42E6-9945-BAE70C38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67225"/>
            <a:ext cx="51149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7DA80F-B742-495C-82F5-8AF89FBF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57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977D06-FF8D-4229-B527-80CB6C6F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38675"/>
            <a:ext cx="390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Evidence 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B5B7ED-F635-4578-81BD-4F3D5DFC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10150"/>
            <a:ext cx="4048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acceptance 與 affected risks 有 fresh verification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CB58EA-63CF-4B2A-B3AE-DBD82420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819775"/>
            <a:ext cx="519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System Design Review 是 Change Gate 的 risk-based implementation，不是第四個 Gate。</a:t>
            </a:r>
          </a:p>
        </p:txBody>
      </p:sp>
    </p:spTree>
    <p:extLst>
      <p:ext uri="{BB962C8B-B14F-4D97-AF65-F5344CB8AC3E}">
        <p14:creationId xmlns:p14="http://schemas.microsoft.com/office/powerpoint/2010/main" val="20739472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三條常見路徑共用 Golden Flow，但不使用同一套重量</a:t>
            </a:r>
          </a:p>
        </p:txBody>
      </p:sp>
      <p:cxnSp>
        <p:nvCxnSpPr>
          <p:cNvPr id="105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NEW FEATURE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Feature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codebase-research / explore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brainstorming + design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to-tickets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frontier P0 + JIT plan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TDD + verification</a:t>
            </a:r>
          </a:p>
        </p:txBody>
      </p:sp>
      <p:cxnSp>
        <p:nvCxnSpPr>
          <p:cNvPr id="112" name=""/>
          <p:cNvCxnSpPr/>
          <p:nvPr/>
        </p:nvCxnSpPr>
        <p:spPr>
          <a:xfrm xmlns:a="http://schemas.openxmlformats.org/drawingml/2006/main">
            <a:off x="62865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Feature acceptance + P0 evidence rollup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BUG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Bug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reproduce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systematic-debugging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proven root cause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regression test + minimal fix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fresh verification</a:t>
            </a:r>
          </a:p>
        </p:txBody>
      </p:sp>
      <p:cxnSp>
        <p:nvCxnSpPr>
          <p:cNvPr id="120" name=""/>
          <p:cNvCxnSpPr/>
          <p:nvPr/>
        </p:nvCxnSpPr>
        <p:spPr>
          <a:xfrm xmlns:a="http://schemas.openxmlformats.org/drawingml/2006/main">
            <a:off x="4505325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Reproduction closed + regression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MODERNIZATION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P3 Program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as-is + characterization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target System Design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Waves → Epics → Features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expand / migrate / contract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parity + cutover evidence</a:t>
            </a:r>
          </a:p>
        </p:txBody>
      </p:sp>
      <p:cxnSp>
        <p:nvCxnSpPr>
          <p:cNvPr id="128" name=""/>
          <p:cNvCxnSpPr/>
          <p:nvPr/>
        </p:nvCxnSpPr>
        <p:spPr>
          <a:xfrm xmlns:a="http://schemas.openxmlformats.org/drawingml/2006/main">
            <a:off x="838200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36404-A14D-4C18-A696-0256E9DC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CEE82-16AE-4E5F-95FD-6B69D0ED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Operational readiness + recovery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First unknown wins。Evidence Gate 後，shared / production change → existing release process（E3 · observe · recover）。</a:t>
            </a:r>
          </a:p>
        </p:txBody>
      </p:sp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83216B-B198-4B14-A0A9-6CF04FB5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478E5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2478E5"/>
                </a:solidFill>
                <a:latin typeface="Nimbus Sans"/>
                <a:ea typeface="Nimbus Sans"/>
                <a:cs typeface="Nimbus Sans"/>
              </a:rPr>
              <a:t>START USING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67F9D-C209-4CBC-B9DD-AB7A7D10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從下一張真實 work item 開始，而不是先建立新 ceremony</a:t>
            </a:r>
          </a:p>
        </p:txBody>
      </p:sp>
      <p:cxnSp>
        <p:nvCxnSpPr>
          <p:cNvPr id="97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75A72-5745-4C7E-B098-7D5AF62A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AD55B-C19C-4B6C-A349-C2B0CC0D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ENGINEER · 60-SECOND 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0A5C1-B68D-47AD-9009-56B9A69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D2C76-2802-408E-A12C-7AF06296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選 P3 / P2 / P1 / P0 與 P0 type</a:t>
            </a:r>
          </a:p>
        </p:txBody>
      </p:sp>
      <p:cxnSp>
        <p:nvCxnSpPr>
          <p:cNvPr id="102" name=""/>
          <p:cNvCxnSpPr/>
          <p:nvPr/>
        </p:nvCxnSpPr>
        <p:spPr>
          <a:xfrm xmlns:a="http://schemas.openxmlformats.org/drawingml/2006/main">
            <a:off x="914400" y="24098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124EC-0E88-44EC-AC94-B26B74D9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F5DA1-1519-47AD-90FB-8482D8AB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確認 Archetype 與 Control Profile</a:t>
            </a:r>
          </a:p>
        </p:txBody>
      </p:sp>
      <p:cxnSp>
        <p:nvCxnSpPr>
          <p:cNvPr id="105" name=""/>
          <p:cNvCxnSpPr/>
          <p:nvPr/>
        </p:nvCxnSpPr>
        <p:spPr>
          <a:xfrm xmlns:a="http://schemas.openxmlformats.org/drawingml/2006/main">
            <a:off x="914400" y="304800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BB758-A06A-43D7-9FEF-1CB8A55F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8F88E-9677-4CEA-A527-08C99AFB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找第一個還不能回答的 Golden Stage</a:t>
            </a:r>
          </a:p>
        </p:txBody>
      </p:sp>
      <p:cxnSp>
        <p:nvCxnSpPr>
          <p:cNvPr id="108" name=""/>
          <p:cNvCxnSpPr/>
          <p:nvPr/>
        </p:nvCxnSpPr>
        <p:spPr>
          <a:xfrm xmlns:a="http://schemas.openxmlformats.org/drawingml/2006/main">
            <a:off x="914400" y="368617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046E0-440B-4A81-BCA5-60A57B44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33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15CA2-2FA4-404B-BA2C-02ADAD9B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執行一個 lead skill，留下 minimum artifact</a:t>
            </a:r>
          </a:p>
        </p:txBody>
      </p:sp>
      <p:cxnSp>
        <p:nvCxnSpPr>
          <p:cNvPr id="111" name=""/>
          <p:cNvCxnSpPr/>
          <p:nvPr/>
        </p:nvCxnSpPr>
        <p:spPr>
          <a:xfrm xmlns:a="http://schemas.openxmlformats.org/drawingml/2006/main">
            <a:off x="914400" y="432435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831D7-138A-4BDC-8FF6-427E0BD1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8BE8E-3438-4E8C-A119-4C66F17E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由 accountable human 通過相稱 Gate</a:t>
            </a:r>
          </a:p>
        </p:txBody>
      </p:sp>
      <p:cxnSp>
        <p:nvCxnSpPr>
          <p:cNvPr id="114" name=""/>
          <p:cNvCxnSpPr/>
          <p:nvPr/>
        </p:nvCxnSpPr>
        <p:spPr>
          <a:xfrm xmlns:a="http://schemas.openxmlformats.org/drawingml/2006/main">
            <a:off x="914400" y="49625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E04C2-D91B-4AD5-B9DE-9CC1B22C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504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ROLE EXPECTATION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E7B23-8F86-406C-8D93-CA04322B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8120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3C903-718C-4B4C-A936-43382A1A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Engineer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B1E74-661F-488A-94AB-FEEFD207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1455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evidence-backed execution；不以 AI summary 代替完成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CCEE7-B911-4EAC-B337-FD38145F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1465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EF652-3839-44D2-AAE3-2E1E6287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Tech Lead / Architect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380E2-ABA0-4A44-B641-2461032E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boundary、trade-off、System Design 與 risk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0D183-62FB-4E1B-BD16-2F5F80E0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4810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CEC29-8CA1-4ECE-86E5-A766F74D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Manager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70A761-77A8-4094-90A6-6F9AE98E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8145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選 mission、移除 blocker、看 outcome / quality / reliability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F1388-212A-4E0D-9FF4-9BE8C382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72050"/>
            <a:ext cx="51149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251B0D-141E-4FF1-91D9-124435B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530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TEAM MISSION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BBF877-E486-4CA7-B87E-4321FF11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578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Sprint：1 Feature + 1 Bug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Tech Lead · Sprint Review · routing evidence / friction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2AA94C-EF1D-441A-911C-3E17E1EF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更快理解正確的問題，做出更好的 engineering decision，並用足夠 evidence 安全交付。</a:t>
            </a:r>
          </a:p>
        </p:txBody>
      </p:sp>
    </p:spTree>
    <p:extLst>
      <p:ext uri="{BB962C8B-B14F-4D97-AF65-F5344CB8AC3E}">
        <p14:creationId xmlns:p14="http://schemas.microsoft.com/office/powerpoint/2010/main" val="1783262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2026-07-16T07:32:21.2810000Z</dcterms:created>
  <dcterms:modified xsi:type="dcterms:W3CDTF">2026-07-16T07:32:21.2810000Z</dcterms:modified>
</coreProperties>
</file>
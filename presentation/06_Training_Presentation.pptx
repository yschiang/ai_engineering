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39eaeec769446f" /><Relationship Type="http://schemas.openxmlformats.org/officeDocument/2006/relationships/extended-properties" Target="/docProps/app.xml" Id="Rb71566c61b7a43aa" /><Relationship Type="http://schemas.openxmlformats.org/officeDocument/2006/relationships/officeDocument" Target="/ppt/presentation.xml" Id="R527d29af35fe46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ff23ff27084e06"/>
  </p:sldMasterIdLst>
  <p:notesMasterIdLst>
    <p:notesMasterId xmlns:r="http://schemas.openxmlformats.org/officeDocument/2006/relationships" r:id="Rab817f05da5d4223"/>
  </p:notesMasterIdLst>
  <p:sldIdLst>
    <p:sldId xmlns:r="http://schemas.openxmlformats.org/officeDocument/2006/relationships" id="256" r:id="Rb90cba4a0e184886"/>
    <p:sldId xmlns:r="http://schemas.openxmlformats.org/officeDocument/2006/relationships" id="257" r:id="R7abc472ca4364483"/>
    <p:sldId xmlns:r="http://schemas.openxmlformats.org/officeDocument/2006/relationships" id="258" r:id="Rc5772633c1154362"/>
    <p:sldId xmlns:r="http://schemas.openxmlformats.org/officeDocument/2006/relationships" id="259" r:id="Rde034d5145534754"/>
    <p:sldId xmlns:r="http://schemas.openxmlformats.org/officeDocument/2006/relationships" id="260" r:id="R1970c5052d1841f0"/>
    <p:sldId xmlns:r="http://schemas.openxmlformats.org/officeDocument/2006/relationships" id="261" r:id="Rff0ac6e76fc64ebb"/>
    <p:sldId xmlns:r="http://schemas.openxmlformats.org/officeDocument/2006/relationships" id="262" r:id="Rb11b664cd32742ff"/>
    <p:sldId xmlns:r="http://schemas.openxmlformats.org/officeDocument/2006/relationships" id="263" r:id="Re8ea789fc8a14d83"/>
    <p:sldId xmlns:r="http://schemas.openxmlformats.org/officeDocument/2006/relationships" id="264" r:id="R736959e2a89b4c15"/>
    <p:sldId xmlns:r="http://schemas.openxmlformats.org/officeDocument/2006/relationships" id="265" r:id="R6d9d8ddffadd4d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3026cedebe4603" /><Relationship Type="http://schemas.openxmlformats.org/officeDocument/2006/relationships/slideMaster" Target="/ppt/slideMasters/slideMaster1.xml" Id="R16ff23ff27084e06" /><Relationship Type="http://schemas.openxmlformats.org/officeDocument/2006/relationships/notesMaster" Target="/ppt/notesMasters/notesMaster1.xml" Id="Rab817f05da5d4223" /><Relationship Type="http://schemas.openxmlformats.org/officeDocument/2006/relationships/presProps" Target="/ppt/presProps.xml" Id="R0b408002c0c847d4" /><Relationship Type="http://schemas.openxmlformats.org/officeDocument/2006/relationships/tableStyles" Target="/ppt/tableStyles.xml" Id="Re598205ac9c141e8" /><Relationship Type="http://schemas.openxmlformats.org/officeDocument/2006/relationships/slide" Target="/ppt/slides/slide1.xml" Id="Rb90cba4a0e184886" /><Relationship Type="http://schemas.openxmlformats.org/officeDocument/2006/relationships/slide" Target="/ppt/slides/slide2.xml" Id="R7abc472ca4364483" /><Relationship Type="http://schemas.openxmlformats.org/officeDocument/2006/relationships/slide" Target="/ppt/slides/slide3.xml" Id="Rc5772633c1154362" /><Relationship Type="http://schemas.openxmlformats.org/officeDocument/2006/relationships/slide" Target="/ppt/slides/slide4.xml" Id="Rde034d5145534754" /><Relationship Type="http://schemas.openxmlformats.org/officeDocument/2006/relationships/slide" Target="/ppt/slides/slide5.xml" Id="R1970c5052d1841f0" /><Relationship Type="http://schemas.openxmlformats.org/officeDocument/2006/relationships/slide" Target="/ppt/slides/slide6.xml" Id="Rff0ac6e76fc64ebb" /><Relationship Type="http://schemas.openxmlformats.org/officeDocument/2006/relationships/slide" Target="/ppt/slides/slide7.xml" Id="Rb11b664cd32742ff" /><Relationship Type="http://schemas.openxmlformats.org/officeDocument/2006/relationships/slide" Target="/ppt/slides/slide8.xml" Id="Re8ea789fc8a14d83" /><Relationship Type="http://schemas.openxmlformats.org/officeDocument/2006/relationships/slide" Target="/ppt/slides/slide9.xml" Id="R736959e2a89b4c15" /><Relationship Type="http://schemas.openxmlformats.org/officeDocument/2006/relationships/slide" Target="/ppt/slides/slide10.xml" Id="R6d9d8ddffadd4d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d7e318b5e142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ecec0a9ce84ae4" /><Relationship Type="http://schemas.openxmlformats.org/officeDocument/2006/relationships/notesMaster" Target="/ppt/notesMasters/notesMaster1.xml" Id="R89c32aa6fb0d49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8986e267774a73" /><Relationship Type="http://schemas.openxmlformats.org/officeDocument/2006/relationships/notesMaster" Target="/ppt/notesMasters/notesMaster1.xml" Id="R430acef9f46643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db9ec608364728" /><Relationship Type="http://schemas.openxmlformats.org/officeDocument/2006/relationships/notesMaster" Target="/ppt/notesMasters/notesMaster1.xml" Id="R50ce02ce7c2b41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d26ab0e6a44b42" /><Relationship Type="http://schemas.openxmlformats.org/officeDocument/2006/relationships/notesMaster" Target="/ppt/notesMasters/notesMaster1.xml" Id="Rec47d13a18984c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2e596cb93a494d" /><Relationship Type="http://schemas.openxmlformats.org/officeDocument/2006/relationships/notesMaster" Target="/ppt/notesMasters/notesMaster1.xml" Id="R710edd28d11f4c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3fef1b50424347" /><Relationship Type="http://schemas.openxmlformats.org/officeDocument/2006/relationships/notesMaster" Target="/ppt/notesMasters/notesMaster1.xml" Id="R97a7300e1e2446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9c3cf6cec140de" /><Relationship Type="http://schemas.openxmlformats.org/officeDocument/2006/relationships/notesMaster" Target="/ppt/notesMasters/notesMaster1.xml" Id="R6698126f53ca41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7752ad16dd47c6" /><Relationship Type="http://schemas.openxmlformats.org/officeDocument/2006/relationships/notesMaster" Target="/ppt/notesMasters/notesMaster1.xml" Id="Rfe334c99e39641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a9366649794223" /><Relationship Type="http://schemas.openxmlformats.org/officeDocument/2006/relationships/notesMaster" Target="/ppt/notesMasters/notesMaster1.xml" Id="R2157f7879dbf4a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c7654501b64fd1" /><Relationship Type="http://schemas.openxmlformats.org/officeDocument/2006/relationships/notesMaster" Target="/ppt/notesMasters/notesMaster1.xml" Id="Rddbc95248f5041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82de583c4248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5ffad63a4a471f" /><Relationship Type="http://schemas.openxmlformats.org/officeDocument/2006/relationships/slideLayout" Target="/ppt/slideLayouts/slideLayout1.xml" Id="Rd720cfb5a6ca4a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20cfb5a6ca4a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0d88394764406" /><Relationship Type="http://schemas.openxmlformats.org/officeDocument/2006/relationships/notesSlide" Target="/ppt/notesSlides/notesSlide1.xml" Id="Rad34f4356b6341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8089429444cb0" /><Relationship Type="http://schemas.openxmlformats.org/officeDocument/2006/relationships/notesSlide" Target="/ppt/notesSlides/notesSlide2.xml" Id="Re33aeaedaa3f43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fe7d193ec43a5" /><Relationship Type="http://schemas.openxmlformats.org/officeDocument/2006/relationships/notesSlide" Target="/ppt/notesSlides/notesSlide3.xml" Id="Rd11307c8131a4d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982a200b942bd" /><Relationship Type="http://schemas.openxmlformats.org/officeDocument/2006/relationships/notesSlide" Target="/ppt/notesSlides/notesSlide4.xml" Id="R906a57820e9946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ac39c64734211" /><Relationship Type="http://schemas.openxmlformats.org/officeDocument/2006/relationships/notesSlide" Target="/ppt/notesSlides/notesSlide5.xml" Id="R7053fe1686a443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1b105c60142db" /><Relationship Type="http://schemas.openxmlformats.org/officeDocument/2006/relationships/notesSlide" Target="/ppt/notesSlides/notesSlide6.xml" Id="Rcb9a3966f99044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362282d114e01" /><Relationship Type="http://schemas.openxmlformats.org/officeDocument/2006/relationships/notesSlide" Target="/ppt/notesSlides/notesSlide7.xml" Id="R6855d398361c43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950a278574c1d" /><Relationship Type="http://schemas.openxmlformats.org/officeDocument/2006/relationships/notesSlide" Target="/ppt/notesSlides/notesSlide8.xml" Id="R7614c6cc087242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3f2bb10d14d0c" /><Relationship Type="http://schemas.openxmlformats.org/officeDocument/2006/relationships/notesSlide" Target="/ppt/notesSlides/notesSlide9.xml" Id="R03522a25f26e4b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c180d08bc4d24" /><Relationship Type="http://schemas.openxmlformats.org/officeDocument/2006/relationships/notesSlide" Target="/ppt/notesSlides/notesSlide10.xml" Id="Radd9d1b3208341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21030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v1.0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一項工作只做四件事：分類、執行、留證、過 Gate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CLASSIFY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P3–P0  ·  Archetype  ·  Control Profile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43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44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45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66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先選 Work Level；同一 Golden Flow 會遞迴套用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43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44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0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Bounded outcome、approved design、P0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必須 narrow but complete、demoable、可獨立驗證。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是 P0 下方的 implementation decomposition，不是 Work Level。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type：User Story · Enabler · Bug · Spike。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OpenSpec Change 是 P1/P0 scope-dependent artifact container。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Depth changes；Golden Stage 不變。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EFD91-6865-4466-BF71-AA0C8D1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Matrix：選 Level 欄，再找 Current Stage 列</a:t>
            </a:r>
          </a:p>
        </p:txBody>
      </p:sp>
      <p:cxnSp>
        <p:nvCxnSpPr>
          <p:cNvPr id="6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F05BC-99C9-427C-8D6E-19ACC49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9664E-0EBD-4A4F-9997-2802D3B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每個 cell 都是：Lead skill / action → minimum output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1958-64E7-4CC1-8ADD-446D7057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A9C53-910F-442C-84DB-42A6D1A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954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01BC-1DFB-45ED-8A49-69D0328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811B8-735A-4ED4-A933-5FD6AF4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F2AF-70B1-4A6D-8BD9-D048E07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7620B-7239-4825-AB73-EF0766B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P2 Epic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6B2A1-D6E4-4443-8325-0529973A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0F3C8-CA00-4BA7-A231-3B26FB15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17422-9D1D-4D34-96F6-C6A2DA9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0945D-7C6D-41B9-80FB-FDACBCF4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PBI / 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D7560-DD29-4BBA-88D7-68626AD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42ED4-7FA3-44BC-A253-E846020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71E37-9F60-49CF-AC24-5E9FDF5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7EA3B-CA03-477D-9D2A-7BC1909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grill + understand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Product / As-Is 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8E57-5C48-4445-9DC4-EB32B8B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76B83-6DC7-43C8-9F8F-BF8BB91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+ grill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Epic Brief / Impact Map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46FF1-2794-469F-B062-68D60D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F3346-B67E-4440-8842-4F55E6F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Feature Research Brief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27098-2A14-4BE2-B1F0-E5D40CF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954C2-1629-4A53-908E-D5DEF7F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targeted research / debug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context or root cause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8DFE0-D35F-4D54-AF10-681FC949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AD93B-F443-4CCA-A9AE-5C1B409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EF84-F389-4EDE-B516-3F2C287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82366-42C1-448E-B58F-427F5E2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system-design + grill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Product System Design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F58B6-9C72-41B6-8D72-6E38A8E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DCD1B-B3DF-4ED0-BD31-0FED73B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system-design + grill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Epic Design + ADRs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F1552-163D-4DCD-A398-87D5FC57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1453D-FAD4-4F11-9B62-8F6C3B7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brainstorming + triggered SD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Approved Feature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6B98A-3DDC-4314-8B04-6A94723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7EC20-7498-4A34-A903-8D8B19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micro-design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approach + test direction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642-FC73-4ED8-9AFF-DE8853A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80BC32-A795-4D61-AF68-9739A157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A2C43-4488-4F03-9B95-1063BBDA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9E585-E5D5-478B-AA3E-B9812876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portfolio decomposition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Roadmap / Wave Map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49FFB-7F8D-47E9-8575-6588F8C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80B2-3B6A-4CBE-94FA-9A7A4D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decomposition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Feature backlog + deps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FD7808-8943-40A1-9938-4595F33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F74164-DBE9-4614-A4F1-BDD36DF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P0 slices + Blocked by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F44E4A-85A1-489A-9DAB-94AB1AB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25FC19-D3B7-4269-847E-28F26F70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inline / writing-plans JIT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tasks + files + 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56E23-CD6D-4B4A-ABC8-B8EA512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4D7AA-84A7-4666-9C9F-B6EDBA1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29EC31-12C2-46A8-96B1-D649226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3CFCC-0972-4780-8AAA-EA4FFF47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through P2/P1/P0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working increments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A6CD53-D82A-4D9D-A9A0-6CF23271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FC0960-2432-463C-82E5-3277E32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through P1/P0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feature increments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EEE383-A0F5-4FA7-89B0-DC090CA9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907FA-8CA3-4DB3-AB10-BF44371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execute frontier P0s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accepted slices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BDF7A2-A2FD-4260-B9D8-B004434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00933E-FF53-4964-8418-12D329C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TDD + bounded execution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code +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0DF12-013F-4CA6-9DA2-84BC30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181BBA-A0A6-43D3-BFFC-478157B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3B42B7-FC2B-44D3-975E-719D8AFE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8A3C7D-BE98-4627-9721-9ECE6F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outcome / NFR / cutover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Program evidence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3E517D-AF1C-4231-8554-487F694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E6C30-F8A8-44C7-8A66-9EC7410B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E2E / contract / rollout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Epic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0359C6-7B70-4568-A813-B8F8F4BA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D23D0-B0CB-4992-8B53-CFEBAF75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rollup + review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Feature validation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BD7C14-E73E-4A1D-A61F-F838466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00120A-DDF4-4F4D-9A5A-7BAABA7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review + fresh verify</a:t>
            </a:r>
          </a:p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 / P0 evidence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C49096-929F-4AA1-8A63-EA02BBBD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57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Output 可以存在既有 ticket、OpenSpec、ADR、PR 或 test report；不要求新增文件。</a:t>
            </a:r>
          </a:p>
        </p:txBody>
      </p:sp>
    </p:spTree>
    <p:extLst>
      <p:ext uri="{BB962C8B-B14F-4D97-AF65-F5344CB8AC3E}">
        <p14:creationId xmlns:p14="http://schemas.microsoft.com/office/powerpoint/2010/main" val="1293232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必須分兩層：先切 delivery，再做 JIT implementation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OpenSpec tasks.md 已達 executable plan 標準時直接使用；不建立雙份 plan。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4E01B-E77F-40C1-845B-DE6648F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每個 capability 只負責一件事，避免工具互相重疊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01CE-4028-428A-9072-A25F3B1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D46A1-76FF-4E8D-A3F2-B0FEBC0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017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Framework 是 capability-based；下列工具只是 reference implementation。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7FF95-5E41-4CA8-B765-0DF0FA7F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6319E-C739-4830-95BB-764681C1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Research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D877-E97D-4515-AEE4-B040D02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288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 Anything · codebase-research · grill-me · systematic-debugging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BCEAD-A81E-47F1-B0E7-76A5971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28825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建立可信的 domain / system / code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A8AD-395E-4CCD-98B1-F8D5B6D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EDE78-F1A3-4908-AF40-98209848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OpenSpec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B1141-C598-4146-AD5D-A9229C5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8479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/opsx:explore → propose / new / continue → apply → verify → sync / archive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7CCD0-2A61-4452-BA65-51881BF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47975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管理 P1/P0 durable change agreement；Explore 保持 E0 / ephemeral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C225-F6DA-4AAB-89E0-6C084BBF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0AAC7-16CB-4B87-867A-0DCA7F3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93120-1867-4320-9B3C-AA2DDA56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6671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 Feature → P0 tracer bullets + blockers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3BA35-FFB1-49B5-AF95-68F22F5A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67125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擁有 delivery decomposition 與 execution frontier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3D09B-CC41-4438-AC88-012287C1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C2598-03AD-4ED4-A4B0-07F56B44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Superpowers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975F6-4378-4599-866D-F578B849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8627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brainstorming · writing-plans · TDD · execution · review ·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99BE4-A3F5-4333-962F-45833081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86275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擁有 design 與單一 P0 的 execution discipline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EEFA-2AD3-46DA-BDDE-0BB20B3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943A6-9C71-41C6-9550-190BD8E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Human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053BA-F87A-4A36-A367-2CA6CB31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3054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Direction · trade-off · authorization · risk acceptance ·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2678BF-DBC7-45AD-9A57-825A735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05425"/>
            <a:ext cx="3571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 outcome 與 production decision 保持 accountable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954E4-FFEE-48B8-95E6-B69E66DE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SSOT rule：P3/P2 architecture 留在 Product / Architecture artifacts；OpenSpec 只承載 bounded P1/P0 delta。</a:t>
            </a:r>
          </a:p>
        </p:txBody>
      </p:sp>
    </p:spTree>
    <p:extLst>
      <p:ext uri="{BB962C8B-B14F-4D97-AF65-F5344CB8AC3E}">
        <p14:creationId xmlns:p14="http://schemas.microsoft.com/office/powerpoint/2010/main" val="1105155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455E6-6819-42E8-9808-BE7F534D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風險決定 rigor；三個 Gate 決定是否能往前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12A59-FA55-4EC1-8DCC-5470B9F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4DF5-C7D9-44B9-BB36-A9D6E5F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954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CONTROL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A9E7-0755-4398-AE12-200E40DD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Criticality  ×  Change Risk Tier  ×  AI Execution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C253-15CD-4F69-BC1B-FAB708E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6CFBD-B9E3-4461-85EC-9ED7D55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Criticality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C2C96-1FAB-45CA-9596-95FD92C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813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系統重要度與 blast radius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005A0-A3D9-4202-9FE5-7989C38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5A7E6-5F22-4E1E-925D-3D3BAFB2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L0–L3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3BB27-F8A9-42A7-AF5A-9DE0B53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004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material risk、reversibility、recovery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D06BE-9B83-4FEA-B35C-2802126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3D9E-3967-47EF-983F-01FA299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E0–E3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062E7-000D-4E66-84D5-875EBBE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Observe → Propose → Change → 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153C2-C232-4011-9946-334BA9AB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48300"/>
            <a:ext cx="514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EDB00-6002-49A8-8A1B-4B1F022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41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Tier 控制 engineering rigor；Execution Mode 控制 authorization。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D036-C3FF-4557-87BB-3EF11A1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954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THREE HUMAN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FF891-B8FE-432C-9C78-18A187A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526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6AAD5-241A-4F80-AC03-1333761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D51DE-524C-4C6F-BA28-E3EC15F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Understanding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DEA9E-15AA-440A-8DD0-F6C1776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current state、problem、scope、unknowns 有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7275BC-B3C5-4863-82C1-1FA9AE4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099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0999F-564B-4541-89B6-BEF1ED10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5C3E3-3461-44D4-8B46-F1E3348C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Change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E1296-00E3-438B-BA59-5E8DE52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design、risk、P0 decomposition、triggered plan 可接受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394FC-F103-42E6-9945-BAE70C38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672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DA80F-B742-495C-82F5-8AF89FB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7D06-FF8D-4229-B527-80CB6C6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386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Evidence Gate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5B7ED-F635-4578-81BD-4F3D5DF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01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acceptance 與 affected risks 有 fresh verification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B58EA-63CF-4B2A-B3AE-DBD8242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197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Design Review 是 Change Gate 的 risk-based implementation，不是第四個 Gate。</a:t>
            </a:r>
          </a:p>
        </p:txBody>
      </p:sp>
    </p:spTree>
    <p:extLst>
      <p:ext uri="{BB962C8B-B14F-4D97-AF65-F5344CB8AC3E}">
        <p14:creationId xmlns:p14="http://schemas.microsoft.com/office/powerpoint/2010/main" val="2073947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三條常見路徑共用 Golden Flow，但不使用同一套重量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NEW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 / explore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+ design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to-tickets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frontier P0 + JIT plan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TDD + verification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Feature acceptance + P0 evidence rollup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BUG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Bug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reproduce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systematic-debugging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proven root cause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regression test + minimal fix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fresh verification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Reproduction closed + regression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MODERNIZATION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Program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as-is + characterization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target System Design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Waves → Epics → Features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expand / migrate / contract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parity + cutover evidence</a:t>
            </a:r>
          </a:p>
        </p:txBody>
      </p:sp>
      <p:cxnSp>
        <p:nvCxnSpPr>
          <p:cNvPr id="53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Operational readiness + recovery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First unknown wins：從第一個不能可靠回答的 stage 開始；一次只啟動一個 lead action。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USING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從下一張真實 work item 開始，而不是先建立新 ceremony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選 P3 / P2 / P1 / P0 與 P0 type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確認 Archetype 與 Control Profile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找第一個還不能回答的 Golden Stage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執行一個 lead skill，留下 minimum artifact</a:t>
            </a:r>
          </a:p>
        </p:txBody>
      </p:sp>
      <p:cxnSp>
        <p:nvCxnSpPr>
          <p:cNvPr id="51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由 accountable human 通過相稱 Gate</a:t>
            </a:r>
          </a:p>
        </p:txBody>
      </p:sp>
      <p:cxnSp>
        <p:nvCxnSpPr>
          <p:cNvPr id="54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ROLE EXPECTATION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evidence-backed execution；不以 AI summary 代替完成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boundary、trade-off、System Design 與 risk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選 mission、移除 blocker、看 outcome / quality / reliability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MISSION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4387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6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本 Sprint 選一個 Feature、一個 Bug；用 Matrix routing，review evidence 與摩擦點。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更快理解正確的問題，做出更好的 engineering decision，並用足夠 evidence 安全交付。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2026-07-16T05:30:26.9720000Z</dcterms:created>
  <dcterms:modified xsi:type="dcterms:W3CDTF">2026-07-16T05:30:26.9720000Z</dcterms:modified>
</coreProperties>
</file>